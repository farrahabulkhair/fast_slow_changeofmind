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here has had the experience of getting an answer right and KNOWING you got it right — versus getting it right but feeling like you basically flipped a coin. That feeling of certainty is metacognition, and in humans we just ask 'how sure were you?' The problem is our animals can't answer that. So this whole talk is a backdoor: the mouse tells us how sure it is whether it wants to or not — through how it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sits on top of the Fast &amp; Slow paper. The task is a random-dot motion task: a cloud of dots drifts left or right, coherence sets the difficulty, and the mouse reports the direction (top row — the nose-poke floating platform). The twist is the mouse controls its own sampling time. The bottom row shows the strategy: sampling-time distributions run from fast to slow, and slow, more-deliberate sampling buys higher accuracy. The question the paper answered was whether that self-paced strategy is near-optimal — and it is: mice spend more time on hard trials, landing close to the reward-rate optimum. Hold onto that idea — time titrated against difficulty — because we do the same at the other end of the trial.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shift. The Fast &amp; Slow paper studied everything up to commitment — the evidence-gathering. Once the mouse commits and starts moving to the port, that was basically treated as 'the trial is over, it's just motor execution.' Our bet is that it's NOT just motor execution — the decision leaves a fingerprint on the movement. So we take the same logic — time as a readout of an internal state — and apply it to the movement instead of the sampling.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in one sentence — up on the slide. Two words. Metacognition is your private read on your own decision, before any feedback — 'I nailed that' or 'I'm guessing.' Metamotor is that read leaking into your body — the confident, smooth commit versus the hesitant, second-guessing reach. We're asking whether the mouse's run to the port carries that same signature.
[MEME #1 optional: 'when you KNOW you know' vs 'when you're just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has been shown in humans, and it makes the idea concrete. People report the decision by reaching to a target. On the left is a normal trial — a clean committed arc straight to the answer. On the right is a change-of-mind trial: the hand starts toward one option, then curves back and lands on the other. Nobody asked if they changed their mind — the hand said it. The movement leaks the decision process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quantify the change-of-mind trials, three signatures fall out — this is our checklist for the rest of the talk. One, DIFFICULTY: changes of mind peak on hard, low-coherence trials. Two, ACCURACY: change-of-mind trials are less accurate — they happen when the person was unsure. Three, HISTORY / TIME: more of them on the slow, deliberative trials. Difficulty, accuracy, timing. Keep these three — every analysis slide tests movement time against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Made explicit before I show data, so you can hold me to it. Confidence is high when the trial is easy and correct, low when hard or wrong — fast versus slow movement. So if movement time is a confidence proxy it should show the same three signatures we just saw in humans: DIFFICULTY, ACCURACY, HISTORY. Each analysis slide checks one box. If a box doesn't get checked, I'll tell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plumbing — the thing you'd ask me anyway. Movement time is the 'movement to lateral port' epoch: from leaving the centre to reaching the choice port. Raw distributions have long tails — trials where the animal disengaged, some 6–10 seconds; those aren't slow decisions, they're the animal stopping the task. So I trim at the 1st and 99th percentile within each difficulty bin, and (bottom) the result doesn't depend on which trimming rule I use. Colour code from here: green correct, red error, blue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interpret anything, is the effect real and consistent? Left: all 23 sessions individually — in most of them the red error line peels upward at high coherence. Two are flagged: one low-trial high-variance session, and animal GP4-85 which is globally faster with a flatter gradient. Right: the average across sessions, with error bars across sessions, shows the same shape cleanly. So it's not one lucky animal — it's the population. Now let's read that shape as our first confidence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Signature one, pooled over all trials for the cleanest view. X-axis coherence (difficulty, easy on the right); Y movement time. Green correct and blue all-trials are basically flat, even dipping as it gets easier. Now the red line, the errors: on easy trials, high coherence, errors are dramatically slower. An error on an easy trial is where the evidence screamed 'left' and the animal went right — exactly the trial you'd expect a wobble or change of mind — and the movement time balloons. That's the DIFFICULTY signature. Box one,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I'd frame if I had to pick a single slide. Here I bin trials by movement time and ask how accurate they are — three lines, three difficulties. Within EVERY difficulty level, faster movements are more accurate; the lines slope down as MT grows. So it's not just that easy trials are both fast and accurate — even holding difficulty fixed, when the animal moves fast it's more likely right. Exactly what 'movement time reads out confidence' predicts. Box two,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objection, hit head-on. The Fast &amp; Slow paper showed sampling time tracks difficulty — so am I just re-measuring it? No. Left: trial-by-trial correlation between sampling and movement time is weak — significant on hard trials, r about −0.13, negligible on easy. Right, binned: a mild tendency for longer sampling to go with slightly faster movement, and errors (red) sit above correct (green) across the board. Two loosely coupled variables — movement time is not a copy of sampling time; it carries its own information. That's what makes it worth studying.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movement time indexes a confidence state, it shouldn't reset every trial — it should carry over. Left: MT z-scored, split by whether the previous trial was correct or an error. Almost everything sits near zero except one condition that jumps up — an error following an error, on easy trials. Two errors in a row on trials that should've been easy is the animal's worst 'what am I doing' moment, and MT balloons. Right: broken down by the previous trial's difficulty — previous EASY errors slow you most, because an easy-trial error is the most surprising. Confidence-scaled updating. Box three,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history view. Movement time as a function of streak length — positive numbers are consecutive correct, negative are consecutive errors. When the animal is on a losing streak — minus three, four, five in a row — the movements slow right down; winning streaks are flat or slightly faster. So it's graded, not just the single previous trial: the low-confidence state accumulates the worse the run gets. (If asked about win-stay / lose-shift strategy: I tested it and movement time doesn't differ by strategy label — Kruskal–Wallis not significant — so it's the outcome history that matters, not the strategic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honest caveat. I use local reward rate — how well the animal did in the last five trials — as a proxy for engagement. Left: when that reward rate is low, movement times shoot up, especially on medium and easy trials. Right: low reward rate also means lower accuracy. So there's a global engagement axis — sometimes the animal is just checked out, and then it's both slow and wrong. I flag it because it's a confound I have to regress out before I call a slow movement 'low confidence' rather than 'disengaged.' It doesn't erase the earlier effects — those hold within engaged blocks — but it's the asterisk.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checklist. DIFFICULTY: mistakes are slowest when the answer was obvious. ACCURACY: faster movements are more often right, even within a difficulty level. HISTORY: a surprising mistake slows the next move, scaled by how surprising it was. Caveats stay honest — engagement is a confound I control for — but all three confidence signatures are present. Movement time behaves like a confidence readout. So we now have a confidence signal to go looking for in the brain.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go. We have two-photon calcium imaging from frontal cortex — medial and lateral fields — during the task. The plan is three steps: image the activity, align it to movement onset, and ask a simple decoding question — is there a population whose activity around the movement predicts movement time, and predicts correct versus error, trial by trial? If movement time is a confidence readout behaviourally, there should be a neural signal that carries it. That's the bridge from behavioural proxy to neural correlate of 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I'm optimistic this is tractable: the Fast &amp; Slow model — drift-diffusion wrapped in reinforcement and Q-learning — already predicts these animals' choices and sampling times well (that's the model schematic and the mouse-vs-model fits on the slide). It's a ready-made scaffold. The next step is to add movement time as an output of that same model — predict, trial by trial, not just what the animal chose but how fast it moved to say so — and tie that to the confidence term. Then line the model's confidence up against the neural signal from the previous slide. That's the roadmap for the rest of the rotation. Thanks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914400" y="2331720"/>
            <a:ext cx="10332720" cy="1463040"/>
          </a:xfrm>
          <a:prstGeom prst="rect">
            <a:avLst/>
          </a:prstGeom>
          <a:noFill/>
          <a:ln/>
        </p:spPr>
        <p:txBody>
          <a:bodyPr wrap="square" rtlCol="0" anchor="ctr"/>
          <a:lstStyle/>
          <a:p>
            <a:pPr algn="ctr" indent="0" marL="0">
              <a:buNone/>
            </a:pPr>
            <a:r>
              <a:rPr lang="en-US" sz="3700" b="1" dirty="0">
                <a:solidFill>
                  <a:srgbClr val="FFFFFF"/>
                </a:solidFill>
                <a:latin typeface="Cambria" pitchFamily="34" charset="0"/>
                <a:ea typeface="Cambria" pitchFamily="34" charset="-122"/>
                <a:cs typeface="Cambria" pitchFamily="34" charset="-120"/>
              </a:rPr>
              <a:t>Neural correlates of certainty during movement time</a:t>
            </a:r>
            <a:endParaRPr lang="en-US" sz="3700" dirty="0"/>
          </a:p>
        </p:txBody>
      </p:sp>
      <p:sp>
        <p:nvSpPr>
          <p:cNvPr id="3" name="Text 1"/>
          <p:cNvSpPr/>
          <p:nvPr/>
        </p:nvSpPr>
        <p:spPr>
          <a:xfrm>
            <a:off x="1280160" y="3840480"/>
            <a:ext cx="9601200" cy="914400"/>
          </a:xfrm>
          <a:prstGeom prst="rect">
            <a:avLst/>
          </a:prstGeom>
          <a:noFill/>
          <a:ln/>
        </p:spPr>
        <p:txBody>
          <a:bodyPr wrap="square" rtlCol="0" anchor="ctr"/>
          <a:lstStyle/>
          <a:p>
            <a:pPr algn="ctr" indent="0" marL="0">
              <a:buNone/>
            </a:pPr>
            <a:r>
              <a:rPr lang="en-US" sz="2000" i="1" dirty="0">
                <a:solidFill>
                  <a:srgbClr val="CADCFC"/>
                </a:solidFill>
                <a:latin typeface="Calibri" pitchFamily="34" charset="0"/>
                <a:ea typeface="Calibri" pitchFamily="34" charset="-122"/>
                <a:cs typeface="Calibri" pitchFamily="34" charset="-120"/>
              </a:rPr>
              <a:t>The mouse can't tell us how sure it is, so we're asking its movements instead.</a:t>
            </a:r>
            <a:endParaRPr lang="en-US" sz="2000" dirty="0"/>
          </a:p>
        </p:txBody>
      </p:sp>
      <p:sp>
        <p:nvSpPr>
          <p:cNvPr id="4" name="Text 2"/>
          <p:cNvSpPr/>
          <p:nvPr/>
        </p:nvSpPr>
        <p:spPr>
          <a:xfrm>
            <a:off x="640080" y="5989320"/>
            <a:ext cx="10881360" cy="411480"/>
          </a:xfrm>
          <a:prstGeom prst="rect">
            <a:avLst/>
          </a:prstGeom>
          <a:noFill/>
          <a:ln/>
        </p:spPr>
        <p:txBody>
          <a:bodyPr wrap="square" rtlCol="0" anchor="ctr"/>
          <a:lstStyle/>
          <a:p>
            <a:pPr algn="ctr" indent="0" marL="0">
              <a:buNone/>
            </a:pPr>
            <a:r>
              <a:rPr lang="en-US" sz="1300" dirty="0">
                <a:solidFill>
                  <a:srgbClr val="8A93B2"/>
                </a:solidFill>
                <a:latin typeface="Calibri" pitchFamily="34" charset="0"/>
                <a:ea typeface="Calibri" pitchFamily="34" charset="-122"/>
                <a:cs typeface="Calibri" pitchFamily="34" charset="-120"/>
              </a:rPr>
              <a:t>Farah Abulkhair  ·  Larkum lab rotation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9418320" cy="822960"/>
          </a:xfrm>
          <a:prstGeom prst="rect">
            <a:avLst/>
          </a:prstGeom>
          <a:noFill/>
          <a:ln/>
        </p:spPr>
        <p:txBody>
          <a:bodyPr wrap="square" rtlCol="0" anchor="ctr"/>
          <a:lstStyle/>
          <a:p>
            <a:pPr algn="l" indent="0" marL="0">
              <a:buNone/>
            </a:pPr>
            <a:r>
              <a:rPr lang="en-US" sz="2500" b="1" dirty="0">
                <a:solidFill>
                  <a:srgbClr val="1E2761"/>
                </a:solidFill>
                <a:latin typeface="Cambria" pitchFamily="34" charset="0"/>
                <a:ea typeface="Cambria" pitchFamily="34" charset="-122"/>
                <a:cs typeface="Cambria" pitchFamily="34" charset="-120"/>
              </a:rPr>
              <a:t>Fast &amp; Slow: what sampling strategy do mice use?</a:t>
            </a:r>
            <a:endParaRPr lang="en-US" sz="2500" dirty="0"/>
          </a:p>
        </p:txBody>
      </p:sp>
      <p:sp>
        <p:nvSpPr>
          <p:cNvPr id="3" name="Shape 1"/>
          <p:cNvSpPr/>
          <p:nvPr/>
        </p:nvSpPr>
        <p:spPr>
          <a:xfrm>
            <a:off x="10149840" y="365760"/>
            <a:ext cx="1536192" cy="475488"/>
          </a:xfrm>
          <a:prstGeom prst="roundRect">
            <a:avLst>
              <a:gd name="adj" fmla="val 19231"/>
            </a:avLst>
          </a:prstGeom>
          <a:solidFill>
            <a:srgbClr val="EEF3FC"/>
          </a:solidFill>
          <a:ln/>
        </p:spPr>
      </p:sp>
      <p:sp>
        <p:nvSpPr>
          <p:cNvPr id="4" name="Text 2"/>
          <p:cNvSpPr/>
          <p:nvPr/>
        </p:nvSpPr>
        <p:spPr>
          <a:xfrm>
            <a:off x="10149840" y="365760"/>
            <a:ext cx="1536192" cy="475488"/>
          </a:xfrm>
          <a:prstGeom prst="rect">
            <a:avLst/>
          </a:prstGeom>
          <a:noFill/>
          <a:ln/>
        </p:spPr>
        <p:txBody>
          <a:bodyPr wrap="square" rtlCol="0" anchor="ctr"/>
          <a:lstStyle/>
          <a:p>
            <a:pPr algn="ctr" indent="0" marL="0">
              <a:buNone/>
            </a:pPr>
            <a:r>
              <a:rPr lang="en-US" sz="1100" b="1" dirty="0">
                <a:solidFill>
                  <a:srgbClr val="3A4A7A"/>
                </a:solidFill>
                <a:latin typeface="Calibri" pitchFamily="34" charset="0"/>
                <a:ea typeface="Calibri" pitchFamily="34" charset="-122"/>
                <a:cs typeface="Calibri" pitchFamily="34" charset="-120"/>
              </a:rPr>
              <a:t>INTRO</a:t>
            </a:r>
            <a:endParaRPr lang="en-US" sz="1100" dirty="0"/>
          </a:p>
        </p:txBody>
      </p:sp>
      <p:sp>
        <p:nvSpPr>
          <p:cNvPr id="5" name="Text 3"/>
          <p:cNvSpPr/>
          <p:nvPr/>
        </p:nvSpPr>
        <p:spPr>
          <a:xfrm>
            <a:off x="11612880" y="6455664"/>
            <a:ext cx="457200" cy="274320"/>
          </a:xfrm>
          <a:prstGeom prst="rect">
            <a:avLst/>
          </a:prstGeom>
          <a:noFill/>
          <a:ln/>
        </p:spPr>
        <p:txBody>
          <a:bodyPr wrap="square" rtlCol="0" anchor="ctr"/>
          <a:lstStyle/>
          <a:p>
            <a:pPr algn="r" indent="0" marL="0">
              <a:buNone/>
            </a:pPr>
            <a:r>
              <a:rPr lang="en-US" sz="1000" dirty="0">
                <a:solidFill>
                  <a:srgbClr val="8A93B2"/>
                </a:solidFill>
                <a:latin typeface="Calibri" pitchFamily="34" charset="0"/>
                <a:ea typeface="Calibri" pitchFamily="34" charset="-122"/>
                <a:cs typeface="Calibri" pitchFamily="34" charset="-120"/>
              </a:rPr>
              <a:t>1</a:t>
            </a:r>
            <a:endParaRPr lang="en-US" sz="1000" dirty="0"/>
          </a:p>
        </p:txBody>
      </p:sp>
      <p:pic>
        <p:nvPicPr>
          <p:cNvPr id="6" name="Image 0" descr="/sessions/bold-sleepy-planck/mnt/Fast &amp; Slow/fig1_task.png">    </p:cNvPr>
          <p:cNvPicPr>
            <a:picLocks noChangeAspect="1"/>
          </p:cNvPicPr>
          <p:nvPr/>
        </p:nvPicPr>
        <p:blipFill>
          <a:blip r:embed="rId1"/>
          <a:stretch>
            <a:fillRect/>
          </a:stretch>
        </p:blipFill>
        <p:spPr>
          <a:xfrm>
            <a:off x="2009966" y="1234440"/>
            <a:ext cx="8233029" cy="2240280"/>
          </a:xfrm>
          <a:prstGeom prst="rect">
            <a:avLst/>
          </a:prstGeom>
        </p:spPr>
      </p:pic>
      <p:pic>
        <p:nvPicPr>
          <p:cNvPr id="7" name="Image 1" descr="/sessions/bold-sleepy-planck/mnt/Fast &amp; Slow/fig1_strategy.png">    </p:cNvPr>
          <p:cNvPicPr>
            <a:picLocks noChangeAspect="1"/>
          </p:cNvPicPr>
          <p:nvPr/>
        </p:nvPicPr>
        <p:blipFill>
          <a:blip r:embed="rId2"/>
          <a:stretch>
            <a:fillRect/>
          </a:stretch>
        </p:blipFill>
        <p:spPr>
          <a:xfrm>
            <a:off x="2078546" y="3611880"/>
            <a:ext cx="8095869" cy="2057400"/>
          </a:xfrm>
          <a:prstGeom prst="rect">
            <a:avLst/>
          </a:prstGeom>
        </p:spPr>
      </p:pic>
      <p:sp>
        <p:nvSpPr>
          <p:cNvPr id="8" name="Text 4"/>
          <p:cNvSpPr/>
          <p:nvPr/>
        </p:nvSpPr>
        <p:spPr>
          <a:xfrm>
            <a:off x="640080" y="5742432"/>
            <a:ext cx="10881360" cy="274320"/>
          </a:xfrm>
          <a:prstGeom prst="rect">
            <a:avLst/>
          </a:prstGeom>
          <a:noFill/>
          <a:ln/>
        </p:spPr>
        <p:txBody>
          <a:bodyPr wrap="square" rtlCol="0" anchor="ctr"/>
          <a:lstStyle/>
          <a:p>
            <a:pPr algn="r" indent="0" marL="0">
              <a:buNone/>
            </a:pPr>
            <a:r>
              <a:rPr lang="en-US" sz="950" i="1" dirty="0">
                <a:solidFill>
                  <a:srgbClr val="8A93B2"/>
                </a:solidFill>
                <a:latin typeface="Calibri" pitchFamily="34" charset="0"/>
                <a:ea typeface="Calibri" pitchFamily="34" charset="-122"/>
                <a:cs typeface="Calibri" pitchFamily="34" charset="-120"/>
              </a:rPr>
              <a:t>Figures adapted from Nashaat et al., Neuron — Fig 1</a:t>
            </a:r>
            <a:endParaRPr lang="en-US" sz="950" dirty="0"/>
          </a:p>
        </p:txBody>
      </p:sp>
      <p:sp>
        <p:nvSpPr>
          <p:cNvPr id="9" name="Shape 5"/>
          <p:cNvSpPr/>
          <p:nvPr/>
        </p:nvSpPr>
        <p:spPr>
          <a:xfrm>
            <a:off x="640080" y="6053328"/>
            <a:ext cx="10881360" cy="566928"/>
          </a:xfrm>
          <a:prstGeom prst="roundRect">
            <a:avLst>
              <a:gd name="adj" fmla="val 14516"/>
            </a:avLst>
          </a:prstGeom>
          <a:solidFill>
            <a:srgbClr val="EEF3FC"/>
          </a:solidFill>
          <a:ln/>
        </p:spPr>
      </p:sp>
      <p:sp>
        <p:nvSpPr>
          <p:cNvPr id="10" name="Text 6"/>
          <p:cNvSpPr/>
          <p:nvPr/>
        </p:nvSpPr>
        <p:spPr>
          <a:xfrm>
            <a:off x="868680" y="6053328"/>
            <a:ext cx="10424160" cy="566928"/>
          </a:xfrm>
          <a:prstGeom prst="rect">
            <a:avLst/>
          </a:prstGeom>
          <a:noFill/>
          <a:ln/>
        </p:spPr>
        <p:txBody>
          <a:bodyPr wrap="square" rtlCol="0" anchor="ctr"/>
          <a:lstStyle/>
          <a:p>
            <a:pPr algn="ctr" indent="0" marL="0">
              <a:buNone/>
            </a:pPr>
            <a:pPr algn="ctr" indent="0" marL="0">
              <a:buNone/>
            </a:pPr>
            <a:r>
              <a:rPr lang="en-US" sz="1400" b="1" dirty="0">
                <a:solidFill>
                  <a:srgbClr val="1E2761"/>
                </a:solidFill>
                <a:latin typeface="Calibri" pitchFamily="34" charset="0"/>
                <a:ea typeface="Calibri" pitchFamily="34" charset="-122"/>
                <a:cs typeface="Calibri" pitchFamily="34" charset="-120"/>
              </a:rPr>
              <a:t>Free to choose when to commit, mice sample longer on hard trials — landing near the reward-optimal amount of evidence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9418320" cy="822960"/>
          </a:xfrm>
          <a:prstGeom prst="rect">
            <a:avLst/>
          </a:prstGeom>
          <a:noFill/>
          <a:ln/>
        </p:spPr>
        <p:txBody>
          <a:bodyPr wrap="square" rtlCol="0" anchor="ctr"/>
          <a:lstStyle/>
          <a:p>
            <a:pPr algn="l" indent="0" marL="0">
              <a:buNone/>
            </a:pPr>
            <a:r>
              <a:rPr lang="en-US" sz="2500" b="1" dirty="0">
                <a:solidFill>
                  <a:srgbClr val="1E2761"/>
                </a:solidFill>
                <a:latin typeface="Cambria" pitchFamily="34" charset="0"/>
                <a:ea typeface="Cambria" pitchFamily="34" charset="-122"/>
                <a:cs typeface="Cambria" pitchFamily="34" charset="-120"/>
              </a:rPr>
              <a:t>Same trial, a different question</a:t>
            </a:r>
            <a:endParaRPr lang="en-US" sz="2500" dirty="0"/>
          </a:p>
        </p:txBody>
      </p:sp>
      <p:sp>
        <p:nvSpPr>
          <p:cNvPr id="3" name="Shape 1"/>
          <p:cNvSpPr/>
          <p:nvPr/>
        </p:nvSpPr>
        <p:spPr>
          <a:xfrm>
            <a:off x="10149840" y="365760"/>
            <a:ext cx="1536192" cy="475488"/>
          </a:xfrm>
          <a:prstGeom prst="roundRect">
            <a:avLst>
              <a:gd name="adj" fmla="val 19231"/>
            </a:avLst>
          </a:prstGeom>
          <a:solidFill>
            <a:srgbClr val="EEF3FC"/>
          </a:solidFill>
          <a:ln/>
        </p:spPr>
      </p:sp>
      <p:sp>
        <p:nvSpPr>
          <p:cNvPr id="4" name="Text 2"/>
          <p:cNvSpPr/>
          <p:nvPr/>
        </p:nvSpPr>
        <p:spPr>
          <a:xfrm>
            <a:off x="10149840" y="365760"/>
            <a:ext cx="1536192" cy="475488"/>
          </a:xfrm>
          <a:prstGeom prst="rect">
            <a:avLst/>
          </a:prstGeom>
          <a:noFill/>
          <a:ln/>
        </p:spPr>
        <p:txBody>
          <a:bodyPr wrap="square" rtlCol="0" anchor="ctr"/>
          <a:lstStyle/>
          <a:p>
            <a:pPr algn="ctr" indent="0" marL="0">
              <a:buNone/>
            </a:pPr>
            <a:r>
              <a:rPr lang="en-US" sz="1100" b="1" dirty="0">
                <a:solidFill>
                  <a:srgbClr val="3A4A7A"/>
                </a:solidFill>
                <a:latin typeface="Calibri" pitchFamily="34" charset="0"/>
                <a:ea typeface="Calibri" pitchFamily="34" charset="-122"/>
                <a:cs typeface="Calibri" pitchFamily="34" charset="-120"/>
              </a:rPr>
              <a:t>INTRO</a:t>
            </a:r>
            <a:endParaRPr lang="en-US" sz="1100" dirty="0"/>
          </a:p>
        </p:txBody>
      </p:sp>
      <p:sp>
        <p:nvSpPr>
          <p:cNvPr id="5" name="Text 3"/>
          <p:cNvSpPr/>
          <p:nvPr/>
        </p:nvSpPr>
        <p:spPr>
          <a:xfrm>
            <a:off x="11612880" y="6455664"/>
            <a:ext cx="457200" cy="274320"/>
          </a:xfrm>
          <a:prstGeom prst="rect">
            <a:avLst/>
          </a:prstGeom>
          <a:noFill/>
          <a:ln/>
        </p:spPr>
        <p:txBody>
          <a:bodyPr wrap="square" rtlCol="0" anchor="ctr"/>
          <a:lstStyle/>
          <a:p>
            <a:pPr algn="r" indent="0" marL="0">
              <a:buNone/>
            </a:pPr>
            <a:r>
              <a:rPr lang="en-US" sz="1000" dirty="0">
                <a:solidFill>
                  <a:srgbClr val="8A93B2"/>
                </a:solidFill>
                <a:latin typeface="Calibri" pitchFamily="34" charset="0"/>
                <a:ea typeface="Calibri" pitchFamily="34" charset="-122"/>
                <a:cs typeface="Calibri" pitchFamily="34" charset="-120"/>
              </a:rPr>
              <a:t>2</a:t>
            </a:r>
            <a:endParaRPr lang="en-US" sz="1000" dirty="0"/>
          </a:p>
        </p:txBody>
      </p:sp>
      <p:sp>
        <p:nvSpPr>
          <p:cNvPr id="6" name="Text 4"/>
          <p:cNvSpPr/>
          <p:nvPr/>
        </p:nvSpPr>
        <p:spPr>
          <a:xfrm>
            <a:off x="640080" y="1051560"/>
            <a:ext cx="10881360" cy="457200"/>
          </a:xfrm>
          <a:prstGeom prst="rect">
            <a:avLst/>
          </a:prstGeom>
          <a:noFill/>
          <a:ln/>
        </p:spPr>
        <p:txBody>
          <a:bodyPr wrap="square" rtlCol="0" anchor="ctr"/>
          <a:lstStyle/>
          <a:p>
            <a:pPr algn="ctr" indent="0" marL="0">
              <a:buNone/>
            </a:pPr>
            <a:r>
              <a:rPr lang="en-US" sz="1500" i="1" dirty="0">
                <a:solidFill>
                  <a:srgbClr val="3A4A7A"/>
                </a:solidFill>
                <a:latin typeface="Calibri" pitchFamily="34" charset="0"/>
                <a:ea typeface="Calibri" pitchFamily="34" charset="-122"/>
                <a:cs typeface="Calibri" pitchFamily="34" charset="-120"/>
              </a:rPr>
              <a:t>Fast &amp; Slow studied evidence-gathering BEFORE the choice. We ask what the movement reveals AFTER it.</a:t>
            </a:r>
            <a:endParaRPr lang="en-US" sz="1500" dirty="0"/>
          </a:p>
        </p:txBody>
      </p:sp>
      <p:pic>
        <p:nvPicPr>
          <p:cNvPr id="7" name="Image 0" descr="/sessions/bold-sleepy-planck/mnt/Fast &amp; Slow/fig_timeline_pivot.png">    </p:cNvPr>
          <p:cNvPicPr>
            <a:picLocks noChangeAspect="1"/>
          </p:cNvPicPr>
          <p:nvPr/>
        </p:nvPicPr>
        <p:blipFill>
          <a:blip r:embed="rId1"/>
          <a:stretch>
            <a:fillRect/>
          </a:stretch>
        </p:blipFill>
        <p:spPr>
          <a:xfrm>
            <a:off x="640080" y="1613000"/>
            <a:ext cx="10881360" cy="4089200"/>
          </a:xfrm>
          <a:prstGeom prst="rect">
            <a:avLst/>
          </a:prstGeom>
        </p:spPr>
      </p:pic>
      <p:sp>
        <p:nvSpPr>
          <p:cNvPr id="8" name="Shape 5"/>
          <p:cNvSpPr/>
          <p:nvPr/>
        </p:nvSpPr>
        <p:spPr>
          <a:xfrm>
            <a:off x="640080" y="6053328"/>
            <a:ext cx="10881360" cy="566928"/>
          </a:xfrm>
          <a:prstGeom prst="roundRect">
            <a:avLst>
              <a:gd name="adj" fmla="val 14516"/>
            </a:avLst>
          </a:prstGeom>
          <a:solidFill>
            <a:srgbClr val="EEF3FC"/>
          </a:solidFill>
          <a:ln/>
        </p:spPr>
      </p:sp>
      <p:sp>
        <p:nvSpPr>
          <p:cNvPr id="9" name="Text 6"/>
          <p:cNvSpPr/>
          <p:nvPr/>
        </p:nvSpPr>
        <p:spPr>
          <a:xfrm>
            <a:off x="868680" y="6053328"/>
            <a:ext cx="10424160" cy="566928"/>
          </a:xfrm>
          <a:prstGeom prst="rect">
            <a:avLst/>
          </a:prstGeom>
          <a:noFill/>
          <a:ln/>
        </p:spPr>
        <p:txBody>
          <a:bodyPr wrap="square" rtlCol="0" anchor="ctr"/>
          <a:lstStyle/>
          <a:p>
            <a:pPr algn="ctr" indent="0" marL="0">
              <a:buNone/>
            </a:pPr>
            <a:pPr algn="ctr" indent="0" marL="0">
              <a:buNone/>
            </a:pPr>
            <a:r>
              <a:rPr lang="en-US" sz="1400" b="1" dirty="0">
                <a:solidFill>
                  <a:srgbClr val="1E2761"/>
                </a:solidFill>
                <a:latin typeface="Calibri" pitchFamily="34" charset="0"/>
                <a:ea typeface="Calibri" pitchFamily="34" charset="-122"/>
                <a:cs typeface="Calibri" pitchFamily="34" charset="-120"/>
              </a:rPr>
              <a:t>Same logic — time as a window into an internal state — moved from sampling to the movement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9418320" cy="822960"/>
          </a:xfrm>
          <a:prstGeom prst="rect">
            <a:avLst/>
          </a:prstGeom>
          <a:noFill/>
          <a:ln/>
        </p:spPr>
        <p:txBody>
          <a:bodyPr wrap="square" rtlCol="0" anchor="ctr"/>
          <a:lstStyle/>
          <a:p>
            <a:pPr algn="l" indent="0" marL="0">
              <a:buNone/>
            </a:pPr>
            <a:r>
              <a:rPr lang="en-US" sz="2500" b="1" dirty="0">
                <a:solidFill>
                  <a:srgbClr val="1E2761"/>
                </a:solidFill>
                <a:latin typeface="Cambria" pitchFamily="34" charset="0"/>
                <a:ea typeface="Cambria" pitchFamily="34" charset="-122"/>
                <a:cs typeface="Cambria" pitchFamily="34" charset="-120"/>
              </a:rPr>
              <a:t>Can we use movement time as a proxy for the animal's confidence?</a:t>
            </a:r>
            <a:endParaRPr lang="en-US" sz="2500" dirty="0"/>
          </a:p>
        </p:txBody>
      </p:sp>
      <p:sp>
        <p:nvSpPr>
          <p:cNvPr id="3" name="Shape 1"/>
          <p:cNvSpPr/>
          <p:nvPr/>
        </p:nvSpPr>
        <p:spPr>
          <a:xfrm>
            <a:off x="10149840" y="365760"/>
            <a:ext cx="1536192" cy="475488"/>
          </a:xfrm>
          <a:prstGeom prst="roundRect">
            <a:avLst>
              <a:gd name="adj" fmla="val 19231"/>
            </a:avLst>
          </a:prstGeom>
          <a:solidFill>
            <a:srgbClr val="EEF3FC"/>
          </a:solidFill>
          <a:ln/>
        </p:spPr>
      </p:sp>
      <p:sp>
        <p:nvSpPr>
          <p:cNvPr id="4" name="Text 2"/>
          <p:cNvSpPr/>
          <p:nvPr/>
        </p:nvSpPr>
        <p:spPr>
          <a:xfrm>
            <a:off x="10149840" y="365760"/>
            <a:ext cx="1536192" cy="475488"/>
          </a:xfrm>
          <a:prstGeom prst="rect">
            <a:avLst/>
          </a:prstGeom>
          <a:noFill/>
          <a:ln/>
        </p:spPr>
        <p:txBody>
          <a:bodyPr wrap="square" rtlCol="0" anchor="ctr"/>
          <a:lstStyle/>
          <a:p>
            <a:pPr algn="ctr" indent="0" marL="0">
              <a:buNone/>
            </a:pPr>
            <a:r>
              <a:rPr lang="en-US" sz="1100" b="1" dirty="0">
                <a:solidFill>
                  <a:srgbClr val="3A4A7A"/>
                </a:solidFill>
                <a:latin typeface="Calibri" pitchFamily="34" charset="0"/>
                <a:ea typeface="Calibri" pitchFamily="34" charset="-122"/>
                <a:cs typeface="Calibri" pitchFamily="34" charset="-120"/>
              </a:rPr>
              <a:t>INTRO</a:t>
            </a:r>
            <a:endParaRPr lang="en-US" sz="1100" dirty="0"/>
          </a:p>
        </p:txBody>
      </p:sp>
      <p:sp>
        <p:nvSpPr>
          <p:cNvPr id="5" name="Text 3"/>
          <p:cNvSpPr/>
          <p:nvPr/>
        </p:nvSpPr>
        <p:spPr>
          <a:xfrm>
            <a:off x="11612880" y="6455664"/>
            <a:ext cx="457200" cy="274320"/>
          </a:xfrm>
          <a:prstGeom prst="rect">
            <a:avLst/>
          </a:prstGeom>
          <a:noFill/>
          <a:ln/>
        </p:spPr>
        <p:txBody>
          <a:bodyPr wrap="square" rtlCol="0" anchor="ctr"/>
          <a:lstStyle/>
          <a:p>
            <a:pPr algn="r" indent="0" marL="0">
              <a:buNone/>
            </a:pPr>
            <a:r>
              <a:rPr lang="en-US" sz="1000" dirty="0">
                <a:solidFill>
                  <a:srgbClr val="8A93B2"/>
                </a:solidFill>
                <a:latin typeface="Calibri" pitchFamily="34" charset="0"/>
                <a:ea typeface="Calibri" pitchFamily="34" charset="-122"/>
                <a:cs typeface="Calibri" pitchFamily="34" charset="-120"/>
              </a:rPr>
              <a:t>3</a:t>
            </a:r>
            <a:endParaRPr lang="en-US" sz="1000" dirty="0"/>
          </a:p>
        </p:txBody>
      </p:sp>
      <p:sp>
        <p:nvSpPr>
          <p:cNvPr id="6" name="Shape 4"/>
          <p:cNvSpPr/>
          <p:nvPr/>
        </p:nvSpPr>
        <p:spPr>
          <a:xfrm>
            <a:off x="777240" y="1508760"/>
            <a:ext cx="5029200" cy="3063240"/>
          </a:xfrm>
          <a:prstGeom prst="roundRect">
            <a:avLst>
              <a:gd name="adj" fmla="val 1493"/>
            </a:avLst>
          </a:prstGeom>
          <a:solidFill>
            <a:srgbClr val="EEF3FC"/>
          </a:solidFill>
          <a:ln/>
        </p:spPr>
      </p:sp>
      <p:sp>
        <p:nvSpPr>
          <p:cNvPr id="7" name="Text 5"/>
          <p:cNvSpPr/>
          <p:nvPr/>
        </p:nvSpPr>
        <p:spPr>
          <a:xfrm>
            <a:off x="1143000" y="1783080"/>
            <a:ext cx="4297680" cy="548640"/>
          </a:xfrm>
          <a:prstGeom prst="rect">
            <a:avLst/>
          </a:prstGeom>
          <a:noFill/>
          <a:ln/>
        </p:spPr>
        <p:txBody>
          <a:bodyPr wrap="square" rtlCol="0" anchor="ctr"/>
          <a:lstStyle/>
          <a:p>
            <a:pPr indent="0" marL="0">
              <a:buNone/>
            </a:pPr>
            <a:r>
              <a:rPr lang="en-US" sz="1900" b="1" dirty="0">
                <a:solidFill>
                  <a:srgbClr val="1E2761"/>
                </a:solidFill>
                <a:latin typeface="Cambria" pitchFamily="34" charset="0"/>
                <a:ea typeface="Cambria" pitchFamily="34" charset="-122"/>
                <a:cs typeface="Cambria" pitchFamily="34" charset="-120"/>
              </a:rPr>
              <a:t>METACOGNITION</a:t>
            </a:r>
            <a:endParaRPr lang="en-US" sz="1900" dirty="0"/>
          </a:p>
        </p:txBody>
      </p:sp>
      <p:sp>
        <p:nvSpPr>
          <p:cNvPr id="8" name="Text 6"/>
          <p:cNvSpPr/>
          <p:nvPr/>
        </p:nvSpPr>
        <p:spPr>
          <a:xfrm>
            <a:off x="1143000" y="2423160"/>
            <a:ext cx="4343400" cy="1965960"/>
          </a:xfrm>
          <a:prstGeom prst="rect">
            <a:avLst/>
          </a:prstGeom>
          <a:noFill/>
          <a:ln/>
        </p:spPr>
        <p:txBody>
          <a:bodyPr wrap="square" rtlCol="0" anchor="t"/>
          <a:lstStyle/>
          <a:p>
            <a:pPr indent="0" marL="0">
              <a:lnSpc>
                <a:spcPct val="115000"/>
              </a:lnSpc>
              <a:buNone/>
            </a:pPr>
            <a:r>
              <a:rPr lang="en-US" sz="1450" dirty="0">
                <a:solidFill>
                  <a:srgbClr val="24304F"/>
                </a:solidFill>
                <a:latin typeface="Calibri" pitchFamily="34" charset="0"/>
                <a:ea typeface="Calibri" pitchFamily="34" charset="-122"/>
                <a:cs typeface="Calibri" pitchFamily="34" charset="-120"/>
              </a:rPr>
              <a:t>You just answered a hard question. Before anyone tells you if you're right, you already have a hunch — 'nailed it' or 'total guess.' That private read on your own accuracy is metacognition.</a:t>
            </a:r>
            <a:endParaRPr lang="en-US" sz="1450" dirty="0"/>
          </a:p>
        </p:txBody>
      </p:sp>
      <p:sp>
        <p:nvSpPr>
          <p:cNvPr id="9" name="Shape 7"/>
          <p:cNvSpPr/>
          <p:nvPr/>
        </p:nvSpPr>
        <p:spPr>
          <a:xfrm>
            <a:off x="6355080" y="1508760"/>
            <a:ext cx="5029200" cy="3063240"/>
          </a:xfrm>
          <a:prstGeom prst="roundRect">
            <a:avLst>
              <a:gd name="adj" fmla="val 1493"/>
            </a:avLst>
          </a:prstGeom>
          <a:solidFill>
            <a:srgbClr val="EEF3FC"/>
          </a:solidFill>
          <a:ln/>
        </p:spPr>
      </p:sp>
      <p:sp>
        <p:nvSpPr>
          <p:cNvPr id="10" name="Text 8"/>
          <p:cNvSpPr/>
          <p:nvPr/>
        </p:nvSpPr>
        <p:spPr>
          <a:xfrm>
            <a:off x="6720840" y="1783080"/>
            <a:ext cx="4297680" cy="548640"/>
          </a:xfrm>
          <a:prstGeom prst="rect">
            <a:avLst/>
          </a:prstGeom>
          <a:noFill/>
          <a:ln/>
        </p:spPr>
        <p:txBody>
          <a:bodyPr wrap="square" rtlCol="0" anchor="ctr"/>
          <a:lstStyle/>
          <a:p>
            <a:pPr indent="0" marL="0">
              <a:buNone/>
            </a:pPr>
            <a:r>
              <a:rPr lang="en-US" sz="1900" b="1" dirty="0">
                <a:solidFill>
                  <a:srgbClr val="B85042"/>
                </a:solidFill>
                <a:latin typeface="Cambria" pitchFamily="34" charset="0"/>
                <a:ea typeface="Cambria" pitchFamily="34" charset="-122"/>
                <a:cs typeface="Cambria" pitchFamily="34" charset="-120"/>
              </a:rPr>
              <a:t>METAMOTOR</a:t>
            </a:r>
            <a:endParaRPr lang="en-US" sz="1900" dirty="0"/>
          </a:p>
        </p:txBody>
      </p:sp>
      <p:sp>
        <p:nvSpPr>
          <p:cNvPr id="11" name="Text 9"/>
          <p:cNvSpPr/>
          <p:nvPr/>
        </p:nvSpPr>
        <p:spPr>
          <a:xfrm>
            <a:off x="6720840" y="2423160"/>
            <a:ext cx="4343400" cy="1965960"/>
          </a:xfrm>
          <a:prstGeom prst="rect">
            <a:avLst/>
          </a:prstGeom>
          <a:noFill/>
          <a:ln/>
        </p:spPr>
        <p:txBody>
          <a:bodyPr wrap="square" rtlCol="0" anchor="t"/>
          <a:lstStyle/>
          <a:p>
            <a:pPr indent="0" marL="0">
              <a:lnSpc>
                <a:spcPct val="115000"/>
              </a:lnSpc>
              <a:buNone/>
            </a:pPr>
            <a:r>
              <a:rPr lang="en-US" sz="1450" dirty="0">
                <a:solidFill>
                  <a:srgbClr val="24304F"/>
                </a:solidFill>
                <a:latin typeface="Calibri" pitchFamily="34" charset="0"/>
                <a:ea typeface="Calibri" pitchFamily="34" charset="-122"/>
                <a:cs typeface="Calibri" pitchFamily="34" charset="-120"/>
              </a:rPr>
              <a:t>That hunch changes your body. Sure → you commit fast and smooth. Unsure → you hesitate, drift, second-guess mid-reach. When confidence bends the movement, that's metamotor.</a:t>
            </a:r>
            <a:endParaRPr lang="en-US" sz="1450" dirty="0"/>
          </a:p>
        </p:txBody>
      </p:sp>
      <p:sp>
        <p:nvSpPr>
          <p:cNvPr id="12" name="Shape 10"/>
          <p:cNvSpPr/>
          <p:nvPr/>
        </p:nvSpPr>
        <p:spPr>
          <a:xfrm>
            <a:off x="640080" y="6053328"/>
            <a:ext cx="10881360" cy="566928"/>
          </a:xfrm>
          <a:prstGeom prst="roundRect">
            <a:avLst>
              <a:gd name="adj" fmla="val 14516"/>
            </a:avLst>
          </a:prstGeom>
          <a:solidFill>
            <a:srgbClr val="EEF3FC"/>
          </a:solidFill>
          <a:ln/>
        </p:spPr>
      </p:sp>
      <p:sp>
        <p:nvSpPr>
          <p:cNvPr id="13" name="Text 11"/>
          <p:cNvSpPr/>
          <p:nvPr/>
        </p:nvSpPr>
        <p:spPr>
          <a:xfrm>
            <a:off x="868680" y="6053328"/>
            <a:ext cx="10424160" cy="566928"/>
          </a:xfrm>
          <a:prstGeom prst="rect">
            <a:avLst/>
          </a:prstGeom>
          <a:noFill/>
          <a:ln/>
        </p:spPr>
        <p:txBody>
          <a:bodyPr wrap="square" rtlCol="0" anchor="ctr"/>
          <a:lstStyle/>
          <a:p>
            <a:pPr algn="ctr" indent="0" marL="0">
              <a:buNone/>
            </a:pPr>
            <a:pPr algn="ctr" indent="0" marL="0">
              <a:buNone/>
            </a:pPr>
            <a:r>
              <a:rPr lang="en-US" sz="1400" b="1" dirty="0">
                <a:solidFill>
                  <a:srgbClr val="1E2761"/>
                </a:solidFill>
                <a:latin typeface="Calibri" pitchFamily="34" charset="0"/>
                <a:ea typeface="Calibri" pitchFamily="34" charset="-122"/>
                <a:cs typeface="Calibri" pitchFamily="34" charset="-120"/>
              </a:rPr>
              <a:t>If the mouse's confidence bends its movement the same way, movement time becomes a window into certainty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9418320" cy="822960"/>
          </a:xfrm>
          <a:prstGeom prst="rect">
            <a:avLst/>
          </a:prstGeom>
          <a:noFill/>
          <a:ln/>
        </p:spPr>
        <p:txBody>
          <a:bodyPr wrap="square" rtlCol="0" anchor="ctr"/>
          <a:lstStyle/>
          <a:p>
            <a:pPr algn="l" indent="0" marL="0">
              <a:buNone/>
            </a:pPr>
            <a:r>
              <a:rPr lang="en-US" sz="2500" b="1" dirty="0">
                <a:solidFill>
                  <a:srgbClr val="1E2761"/>
                </a:solidFill>
                <a:latin typeface="Cambria" pitchFamily="34" charset="0"/>
                <a:ea typeface="Cambria" pitchFamily="34" charset="-122"/>
                <a:cs typeface="Cambria" pitchFamily="34" charset="-120"/>
              </a:rPr>
              <a:t>Humans reveal it in the hand</a:t>
            </a:r>
            <a:endParaRPr lang="en-US" sz="2500" dirty="0"/>
          </a:p>
        </p:txBody>
      </p:sp>
      <p:sp>
        <p:nvSpPr>
          <p:cNvPr id="3" name="Shape 1"/>
          <p:cNvSpPr/>
          <p:nvPr/>
        </p:nvSpPr>
        <p:spPr>
          <a:xfrm>
            <a:off x="10149840" y="365760"/>
            <a:ext cx="1536192" cy="475488"/>
          </a:xfrm>
          <a:prstGeom prst="roundRect">
            <a:avLst>
              <a:gd name="adj" fmla="val 19231"/>
            </a:avLst>
          </a:prstGeom>
          <a:solidFill>
            <a:srgbClr val="EEF3FC"/>
          </a:solidFill>
          <a:ln/>
        </p:spPr>
      </p:sp>
      <p:sp>
        <p:nvSpPr>
          <p:cNvPr id="4" name="Text 2"/>
          <p:cNvSpPr/>
          <p:nvPr/>
        </p:nvSpPr>
        <p:spPr>
          <a:xfrm>
            <a:off x="10149840" y="365760"/>
            <a:ext cx="1536192" cy="475488"/>
          </a:xfrm>
          <a:prstGeom prst="rect">
            <a:avLst/>
          </a:prstGeom>
          <a:noFill/>
          <a:ln/>
        </p:spPr>
        <p:txBody>
          <a:bodyPr wrap="square" rtlCol="0" anchor="ctr"/>
          <a:lstStyle/>
          <a:p>
            <a:pPr algn="ctr" indent="0" marL="0">
              <a:buNone/>
            </a:pPr>
            <a:r>
              <a:rPr lang="en-US" sz="1100" b="1" dirty="0">
                <a:solidFill>
                  <a:srgbClr val="3A4A7A"/>
                </a:solidFill>
                <a:latin typeface="Calibri" pitchFamily="34" charset="0"/>
                <a:ea typeface="Calibri" pitchFamily="34" charset="-122"/>
                <a:cs typeface="Calibri" pitchFamily="34" charset="-120"/>
              </a:rPr>
              <a:t>INTRO</a:t>
            </a:r>
            <a:endParaRPr lang="en-US" sz="1100" dirty="0"/>
          </a:p>
        </p:txBody>
      </p:sp>
      <p:sp>
        <p:nvSpPr>
          <p:cNvPr id="5" name="Text 3"/>
          <p:cNvSpPr/>
          <p:nvPr/>
        </p:nvSpPr>
        <p:spPr>
          <a:xfrm>
            <a:off x="11612880" y="6455664"/>
            <a:ext cx="457200" cy="274320"/>
          </a:xfrm>
          <a:prstGeom prst="rect">
            <a:avLst/>
          </a:prstGeom>
          <a:noFill/>
          <a:ln/>
        </p:spPr>
        <p:txBody>
          <a:bodyPr wrap="square" rtlCol="0" anchor="ctr"/>
          <a:lstStyle/>
          <a:p>
            <a:pPr algn="r" indent="0" marL="0">
              <a:buNone/>
            </a:pPr>
            <a:r>
              <a:rPr lang="en-US" sz="1000" dirty="0">
                <a:solidFill>
                  <a:srgbClr val="8A93B2"/>
                </a:solidFill>
                <a:latin typeface="Calibri" pitchFamily="34" charset="0"/>
                <a:ea typeface="Calibri" pitchFamily="34" charset="-122"/>
                <a:cs typeface="Calibri" pitchFamily="34" charset="-120"/>
              </a:rPr>
              <a:t>4</a:t>
            </a:r>
            <a:endParaRPr lang="en-US" sz="1000" dirty="0"/>
          </a:p>
        </p:txBody>
      </p:sp>
      <p:sp>
        <p:nvSpPr>
          <p:cNvPr id="6" name="Shape 4"/>
          <p:cNvSpPr/>
          <p:nvPr/>
        </p:nvSpPr>
        <p:spPr>
          <a:xfrm>
            <a:off x="1280160" y="1325880"/>
            <a:ext cx="9601200" cy="4297680"/>
          </a:xfrm>
          <a:prstGeom prst="roundRect">
            <a:avLst>
              <a:gd name="adj" fmla="val 1064"/>
            </a:avLst>
          </a:prstGeom>
          <a:solidFill>
            <a:srgbClr val="EEF3FC"/>
          </a:solidFill>
          <a:ln w="31750">
            <a:solidFill>
              <a:srgbClr val="CADCFC"/>
            </a:solidFill>
            <a:prstDash val="dash"/>
          </a:ln>
        </p:spPr>
      </p:sp>
      <p:sp>
        <p:nvSpPr>
          <p:cNvPr id="7" name="Text 5"/>
          <p:cNvSpPr/>
          <p:nvPr/>
        </p:nvSpPr>
        <p:spPr>
          <a:xfrm>
            <a:off x="1280160" y="1325880"/>
            <a:ext cx="9601200" cy="4297680"/>
          </a:xfrm>
          <a:prstGeom prst="rect">
            <a:avLst/>
          </a:prstGeom>
          <a:noFill/>
          <a:ln/>
        </p:spPr>
        <p:txBody>
          <a:bodyPr wrap="square" rtlCol="0" anchor="ctr"/>
          <a:lstStyle/>
          <a:p>
            <a:pPr algn="ctr" indent="0" marL="0">
              <a:lnSpc>
                <a:spcPct val="115000"/>
              </a:lnSpc>
              <a:buNone/>
            </a:pPr>
            <a:r>
              <a:rPr lang="en-US" sz="1300" b="1" dirty="0">
                <a:solidFill>
                  <a:srgbClr val="3A4A7A"/>
                </a:solidFill>
                <a:latin typeface="Calibri" pitchFamily="34" charset="0"/>
                <a:ea typeface="Calibri" pitchFamily="34" charset="-122"/>
                <a:cs typeface="Calibri" pitchFamily="34" charset="-120"/>
              </a:rPr>
              <a:t>▣  PASTE FIGURE
</a:t>
            </a:r>
            <a:pPr algn="ctr" indent="0" marL="0">
              <a:lnSpc>
                <a:spcPct val="115000"/>
              </a:lnSpc>
              <a:buNone/>
            </a:pPr>
            <a:r>
              <a:rPr lang="en-US" sz="1800" b="1" dirty="0">
                <a:solidFill>
                  <a:srgbClr val="1E2761"/>
                </a:solidFill>
                <a:latin typeface="Calibri" pitchFamily="34" charset="0"/>
                <a:ea typeface="Calibri" pitchFamily="34" charset="-122"/>
                <a:cs typeface="Calibri" pitchFamily="34" charset="-120"/>
              </a:rPr>
              <a:t>Human reaching trajectories — non-CoM vs CoM
</a:t>
            </a:r>
            <a:pPr algn="ctr" indent="0" marL="0">
              <a:lnSpc>
                <a:spcPct val="115000"/>
              </a:lnSpc>
              <a:buNone/>
            </a:pPr>
            <a:r>
              <a:rPr lang="en-US" sz="1250" i="1" dirty="0">
                <a:solidFill>
                  <a:srgbClr val="8A93B2"/>
                </a:solidFill>
                <a:latin typeface="Calibri" pitchFamily="34" charset="0"/>
                <a:ea typeface="Calibri" pitchFamily="34" charset="-122"/>
                <a:cs typeface="Calibri" pitchFamily="34" charset="-120"/>
              </a:rPr>
              <a:t>PLOS Comput Biol (pcbi.1007149) · paste the two-panel screenshot</a:t>
            </a:r>
            <a:endParaRPr lang="en-US" sz="1300" dirty="0"/>
          </a:p>
        </p:txBody>
      </p:sp>
      <p:sp>
        <p:nvSpPr>
          <p:cNvPr id="8" name="Shape 6"/>
          <p:cNvSpPr/>
          <p:nvPr/>
        </p:nvSpPr>
        <p:spPr>
          <a:xfrm>
            <a:off x="640080" y="6053328"/>
            <a:ext cx="10881360" cy="566928"/>
          </a:xfrm>
          <a:prstGeom prst="roundRect">
            <a:avLst>
              <a:gd name="adj" fmla="val 14516"/>
            </a:avLst>
          </a:prstGeom>
          <a:solidFill>
            <a:srgbClr val="EEF3FC"/>
          </a:solidFill>
          <a:ln/>
        </p:spPr>
      </p:sp>
      <p:sp>
        <p:nvSpPr>
          <p:cNvPr id="9" name="Text 7"/>
          <p:cNvSpPr/>
          <p:nvPr/>
        </p:nvSpPr>
        <p:spPr>
          <a:xfrm>
            <a:off x="868680" y="6053328"/>
            <a:ext cx="10424160" cy="566928"/>
          </a:xfrm>
          <a:prstGeom prst="rect">
            <a:avLst/>
          </a:prstGeom>
          <a:noFill/>
          <a:ln/>
        </p:spPr>
        <p:txBody>
          <a:bodyPr wrap="square" rtlCol="0" anchor="ctr"/>
          <a:lstStyle/>
          <a:p>
            <a:pPr algn="ctr" indent="0" marL="0">
              <a:buNone/>
            </a:pPr>
            <a:pPr algn="ctr" indent="0" marL="0">
              <a:buNone/>
            </a:pPr>
            <a:r>
              <a:rPr lang="en-US" sz="1400" b="1" dirty="0">
                <a:solidFill>
                  <a:srgbClr val="1E2761"/>
                </a:solidFill>
                <a:latin typeface="Calibri" pitchFamily="34" charset="0"/>
                <a:ea typeface="Calibri" pitchFamily="34" charset="-122"/>
                <a:cs typeface="Calibri" pitchFamily="34" charset="-120"/>
              </a:rPr>
              <a:t>On a change-of-mind trial the hand starts toward the wrong target, then curves back — uncertainty made visible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9418320" cy="822960"/>
          </a:xfrm>
          <a:prstGeom prst="rect">
            <a:avLst/>
          </a:prstGeom>
          <a:noFill/>
          <a:ln/>
        </p:spPr>
        <p:txBody>
          <a:bodyPr wrap="square" rtlCol="0" anchor="ctr"/>
          <a:lstStyle/>
          <a:p>
            <a:pPr algn="l" indent="0" marL="0">
              <a:buNone/>
            </a:pPr>
            <a:r>
              <a:rPr lang="en-US" sz="2500" b="1" dirty="0">
                <a:solidFill>
                  <a:srgbClr val="1E2761"/>
                </a:solidFill>
                <a:latin typeface="Cambria" pitchFamily="34" charset="0"/>
                <a:ea typeface="Cambria" pitchFamily="34" charset="-122"/>
                <a:cs typeface="Cambria" pitchFamily="34" charset="-120"/>
              </a:rPr>
              <a:t>Confidence leaves three signatures — our checklist</a:t>
            </a:r>
            <a:endParaRPr lang="en-US" sz="2500" dirty="0"/>
          </a:p>
        </p:txBody>
      </p:sp>
      <p:sp>
        <p:nvSpPr>
          <p:cNvPr id="3" name="Shape 1"/>
          <p:cNvSpPr/>
          <p:nvPr/>
        </p:nvSpPr>
        <p:spPr>
          <a:xfrm>
            <a:off x="10149840" y="365760"/>
            <a:ext cx="1536192" cy="475488"/>
          </a:xfrm>
          <a:prstGeom prst="roundRect">
            <a:avLst>
              <a:gd name="adj" fmla="val 19231"/>
            </a:avLst>
          </a:prstGeom>
          <a:solidFill>
            <a:srgbClr val="EEF3FC"/>
          </a:solidFill>
          <a:ln/>
        </p:spPr>
      </p:sp>
      <p:sp>
        <p:nvSpPr>
          <p:cNvPr id="4" name="Text 2"/>
          <p:cNvSpPr/>
          <p:nvPr/>
        </p:nvSpPr>
        <p:spPr>
          <a:xfrm>
            <a:off x="10149840" y="365760"/>
            <a:ext cx="1536192" cy="475488"/>
          </a:xfrm>
          <a:prstGeom prst="rect">
            <a:avLst/>
          </a:prstGeom>
          <a:noFill/>
          <a:ln/>
        </p:spPr>
        <p:txBody>
          <a:bodyPr wrap="square" rtlCol="0" anchor="ctr"/>
          <a:lstStyle/>
          <a:p>
            <a:pPr algn="ctr" indent="0" marL="0">
              <a:buNone/>
            </a:pPr>
            <a:r>
              <a:rPr lang="en-US" sz="1100" b="1" dirty="0">
                <a:solidFill>
                  <a:srgbClr val="3A4A7A"/>
                </a:solidFill>
                <a:latin typeface="Calibri" pitchFamily="34" charset="0"/>
                <a:ea typeface="Calibri" pitchFamily="34" charset="-122"/>
                <a:cs typeface="Calibri" pitchFamily="34" charset="-120"/>
              </a:rPr>
              <a:t>INTRO</a:t>
            </a:r>
            <a:endParaRPr lang="en-US" sz="1100" dirty="0"/>
          </a:p>
        </p:txBody>
      </p:sp>
      <p:sp>
        <p:nvSpPr>
          <p:cNvPr id="5" name="Text 3"/>
          <p:cNvSpPr/>
          <p:nvPr/>
        </p:nvSpPr>
        <p:spPr>
          <a:xfrm>
            <a:off x="11612880" y="6455664"/>
            <a:ext cx="457200" cy="274320"/>
          </a:xfrm>
          <a:prstGeom prst="rect">
            <a:avLst/>
          </a:prstGeom>
          <a:noFill/>
          <a:ln/>
        </p:spPr>
        <p:txBody>
          <a:bodyPr wrap="square" rtlCol="0" anchor="ctr"/>
          <a:lstStyle/>
          <a:p>
            <a:pPr algn="r" indent="0" marL="0">
              <a:buNone/>
            </a:pPr>
            <a:r>
              <a:rPr lang="en-US" sz="1000" dirty="0">
                <a:solidFill>
                  <a:srgbClr val="8A93B2"/>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822960" y="1325880"/>
            <a:ext cx="6309360" cy="4297680"/>
          </a:xfrm>
          <a:prstGeom prst="roundRect">
            <a:avLst>
              <a:gd name="adj" fmla="val 1064"/>
            </a:avLst>
          </a:prstGeom>
          <a:solidFill>
            <a:srgbClr val="EEF3FC"/>
          </a:solidFill>
          <a:ln w="31750">
            <a:solidFill>
              <a:srgbClr val="CADCFC"/>
            </a:solidFill>
            <a:prstDash val="dash"/>
          </a:ln>
        </p:spPr>
      </p:sp>
      <p:sp>
        <p:nvSpPr>
          <p:cNvPr id="7" name="Text 5"/>
          <p:cNvSpPr/>
          <p:nvPr/>
        </p:nvSpPr>
        <p:spPr>
          <a:xfrm>
            <a:off x="822960" y="1325880"/>
            <a:ext cx="6309360" cy="4297680"/>
          </a:xfrm>
          <a:prstGeom prst="rect">
            <a:avLst/>
          </a:prstGeom>
          <a:noFill/>
          <a:ln/>
        </p:spPr>
        <p:txBody>
          <a:bodyPr wrap="square" rtlCol="0" anchor="ctr"/>
          <a:lstStyle/>
          <a:p>
            <a:pPr algn="ctr" indent="0" marL="0">
              <a:lnSpc>
                <a:spcPct val="115000"/>
              </a:lnSpc>
              <a:buNone/>
            </a:pPr>
            <a:r>
              <a:rPr lang="en-US" sz="1300" b="1" dirty="0">
                <a:solidFill>
                  <a:srgbClr val="3A4A7A"/>
                </a:solidFill>
                <a:latin typeface="Calibri" pitchFamily="34" charset="0"/>
                <a:ea typeface="Calibri" pitchFamily="34" charset="-122"/>
                <a:cs typeface="Calibri" pitchFamily="34" charset="-120"/>
              </a:rPr>
              <a:t>▣  PASTE FIGURE
</a:t>
            </a:r>
            <a:pPr algn="ctr" indent="0" marL="0">
              <a:lnSpc>
                <a:spcPct val="115000"/>
              </a:lnSpc>
              <a:buNone/>
            </a:pPr>
            <a:r>
              <a:rPr lang="en-US" sz="1800" b="1" dirty="0">
                <a:solidFill>
                  <a:srgbClr val="1E2761"/>
                </a:solidFill>
                <a:latin typeface="Calibri" pitchFamily="34" charset="0"/>
                <a:ea typeface="Calibri" pitchFamily="34" charset="-122"/>
                <a:cs typeface="Calibri" pitchFamily="34" charset="-120"/>
              </a:rPr>
              <a:t>Human CoM signatures (4 panels)
</a:t>
            </a:r>
            <a:pPr algn="ctr" indent="0" marL="0">
              <a:lnSpc>
                <a:spcPct val="115000"/>
              </a:lnSpc>
              <a:buNone/>
            </a:pPr>
            <a:r>
              <a:rPr lang="en-US" sz="1250" i="1" dirty="0">
                <a:solidFill>
                  <a:srgbClr val="8A93B2"/>
                </a:solidFill>
                <a:latin typeface="Calibri" pitchFamily="34" charset="0"/>
                <a:ea typeface="Calibri" pitchFamily="34" charset="-122"/>
                <a:cs typeface="Calibri" pitchFamily="34" charset="-120"/>
              </a:rPr>
              <a:t>less accurate · peaks at low coherence · grows with RT</a:t>
            </a:r>
            <a:endParaRPr lang="en-US" sz="1300" dirty="0"/>
          </a:p>
        </p:txBody>
      </p:sp>
      <p:sp>
        <p:nvSpPr>
          <p:cNvPr id="8" name="Shape 6"/>
          <p:cNvSpPr/>
          <p:nvPr/>
        </p:nvSpPr>
        <p:spPr>
          <a:xfrm>
            <a:off x="7406640" y="1463040"/>
            <a:ext cx="566928" cy="566928"/>
          </a:xfrm>
          <a:prstGeom prst="ellipse">
            <a:avLst/>
          </a:prstGeom>
          <a:solidFill>
            <a:srgbClr val="1E2761"/>
          </a:solidFill>
          <a:ln/>
        </p:spPr>
      </p:sp>
      <p:sp>
        <p:nvSpPr>
          <p:cNvPr id="9" name="Text 7"/>
          <p:cNvSpPr/>
          <p:nvPr/>
        </p:nvSpPr>
        <p:spPr>
          <a:xfrm>
            <a:off x="7406640" y="1463040"/>
            <a:ext cx="566928" cy="566928"/>
          </a:xfrm>
          <a:prstGeom prst="rect">
            <a:avLst/>
          </a:prstGeom>
          <a:noFill/>
          <a:ln/>
        </p:spPr>
        <p:txBody>
          <a:bodyPr wrap="square"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10" name="Text 8"/>
          <p:cNvSpPr/>
          <p:nvPr/>
        </p:nvSpPr>
        <p:spPr>
          <a:xfrm>
            <a:off x="8138160" y="1389888"/>
            <a:ext cx="3566160" cy="914400"/>
          </a:xfrm>
          <a:prstGeom prst="rect">
            <a:avLst/>
          </a:prstGeom>
          <a:noFill/>
          <a:ln/>
        </p:spPr>
        <p:txBody>
          <a:bodyPr wrap="square" rtlCol="0" anchor="ctr"/>
          <a:lstStyle/>
          <a:p>
            <a:pPr indent="0" marL="0">
              <a:lnSpc>
                <a:spcPct val="100000"/>
              </a:lnSpc>
              <a:buNone/>
            </a:pPr>
            <a:r>
              <a:rPr lang="en-US" sz="1600" b="1" dirty="0">
                <a:solidFill>
                  <a:srgbClr val="1E2761"/>
                </a:solidFill>
                <a:latin typeface="Calibri" pitchFamily="34" charset="0"/>
                <a:ea typeface="Calibri" pitchFamily="34" charset="-122"/>
                <a:cs typeface="Calibri" pitchFamily="34" charset="-120"/>
              </a:rPr>
              <a:t>DIFFICULTY
</a:t>
            </a:r>
            <a:pPr indent="0" marL="0">
              <a:lnSpc>
                <a:spcPct val="100000"/>
              </a:lnSpc>
              <a:buNone/>
            </a:pPr>
            <a:r>
              <a:rPr lang="en-US" sz="1250" i="1" dirty="0">
                <a:solidFill>
                  <a:srgbClr val="8A93B2"/>
                </a:solidFill>
                <a:latin typeface="Calibri" pitchFamily="34" charset="0"/>
                <a:ea typeface="Calibri" pitchFamily="34" charset="-122"/>
                <a:cs typeface="Calibri" pitchFamily="34" charset="-120"/>
              </a:rPr>
              <a:t>more changes of mind on hard (low-coherence) trials</a:t>
            </a:r>
            <a:endParaRPr lang="en-US" sz="1600" dirty="0"/>
          </a:p>
        </p:txBody>
      </p:sp>
      <p:sp>
        <p:nvSpPr>
          <p:cNvPr id="11" name="Shape 9"/>
          <p:cNvSpPr/>
          <p:nvPr/>
        </p:nvSpPr>
        <p:spPr>
          <a:xfrm>
            <a:off x="7406640" y="2834640"/>
            <a:ext cx="566928" cy="566928"/>
          </a:xfrm>
          <a:prstGeom prst="ellipse">
            <a:avLst/>
          </a:prstGeom>
          <a:solidFill>
            <a:srgbClr val="1E2761"/>
          </a:solidFill>
          <a:ln/>
        </p:spPr>
      </p:sp>
      <p:sp>
        <p:nvSpPr>
          <p:cNvPr id="12" name="Text 10"/>
          <p:cNvSpPr/>
          <p:nvPr/>
        </p:nvSpPr>
        <p:spPr>
          <a:xfrm>
            <a:off x="7406640" y="2834640"/>
            <a:ext cx="566928" cy="566928"/>
          </a:xfrm>
          <a:prstGeom prst="rect">
            <a:avLst/>
          </a:prstGeom>
          <a:noFill/>
          <a:ln/>
        </p:spPr>
        <p:txBody>
          <a:bodyPr wrap="square"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3" name="Text 11"/>
          <p:cNvSpPr/>
          <p:nvPr/>
        </p:nvSpPr>
        <p:spPr>
          <a:xfrm>
            <a:off x="8138160" y="2761488"/>
            <a:ext cx="3566160" cy="914400"/>
          </a:xfrm>
          <a:prstGeom prst="rect">
            <a:avLst/>
          </a:prstGeom>
          <a:noFill/>
          <a:ln/>
        </p:spPr>
        <p:txBody>
          <a:bodyPr wrap="square" rtlCol="0" anchor="ctr"/>
          <a:lstStyle/>
          <a:p>
            <a:pPr indent="0" marL="0">
              <a:lnSpc>
                <a:spcPct val="100000"/>
              </a:lnSpc>
              <a:buNone/>
            </a:pPr>
            <a:r>
              <a:rPr lang="en-US" sz="1600" b="1" dirty="0">
                <a:solidFill>
                  <a:srgbClr val="1E2761"/>
                </a:solidFill>
                <a:latin typeface="Calibri" pitchFamily="34" charset="0"/>
                <a:ea typeface="Calibri" pitchFamily="34" charset="-122"/>
                <a:cs typeface="Calibri" pitchFamily="34" charset="-120"/>
              </a:rPr>
              <a:t>ACCURACY
</a:t>
            </a:r>
            <a:pPr indent="0" marL="0">
              <a:lnSpc>
                <a:spcPct val="100000"/>
              </a:lnSpc>
              <a:buNone/>
            </a:pPr>
            <a:r>
              <a:rPr lang="en-US" sz="1250" i="1" dirty="0">
                <a:solidFill>
                  <a:srgbClr val="8A93B2"/>
                </a:solidFill>
                <a:latin typeface="Calibri" pitchFamily="34" charset="0"/>
                <a:ea typeface="Calibri" pitchFamily="34" charset="-122"/>
                <a:cs typeface="Calibri" pitchFamily="34" charset="-120"/>
              </a:rPr>
              <a:t>change-of-mind (unsure) trials are less accurate</a:t>
            </a:r>
            <a:endParaRPr lang="en-US" sz="1600" dirty="0"/>
          </a:p>
        </p:txBody>
      </p:sp>
      <p:sp>
        <p:nvSpPr>
          <p:cNvPr id="14" name="Shape 12"/>
          <p:cNvSpPr/>
          <p:nvPr/>
        </p:nvSpPr>
        <p:spPr>
          <a:xfrm>
            <a:off x="7406640" y="4206240"/>
            <a:ext cx="566928" cy="566928"/>
          </a:xfrm>
          <a:prstGeom prst="ellipse">
            <a:avLst/>
          </a:prstGeom>
          <a:solidFill>
            <a:srgbClr val="1E2761"/>
          </a:solidFill>
          <a:ln/>
        </p:spPr>
      </p:sp>
      <p:sp>
        <p:nvSpPr>
          <p:cNvPr id="15" name="Text 13"/>
          <p:cNvSpPr/>
          <p:nvPr/>
        </p:nvSpPr>
        <p:spPr>
          <a:xfrm>
            <a:off x="7406640" y="4206240"/>
            <a:ext cx="566928" cy="566928"/>
          </a:xfrm>
          <a:prstGeom prst="rect">
            <a:avLst/>
          </a:prstGeom>
          <a:noFill/>
          <a:ln/>
        </p:spPr>
        <p:txBody>
          <a:bodyPr wrap="square"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16" name="Text 14"/>
          <p:cNvSpPr/>
          <p:nvPr/>
        </p:nvSpPr>
        <p:spPr>
          <a:xfrm>
            <a:off x="8138160" y="4133088"/>
            <a:ext cx="3566160" cy="914400"/>
          </a:xfrm>
          <a:prstGeom prst="rect">
            <a:avLst/>
          </a:prstGeom>
          <a:noFill/>
          <a:ln/>
        </p:spPr>
        <p:txBody>
          <a:bodyPr wrap="square" rtlCol="0" anchor="ctr"/>
          <a:lstStyle/>
          <a:p>
            <a:pPr indent="0" marL="0">
              <a:lnSpc>
                <a:spcPct val="100000"/>
              </a:lnSpc>
              <a:buNone/>
            </a:pPr>
            <a:r>
              <a:rPr lang="en-US" sz="1600" b="1" dirty="0">
                <a:solidFill>
                  <a:srgbClr val="1E2761"/>
                </a:solidFill>
                <a:latin typeface="Calibri" pitchFamily="34" charset="0"/>
                <a:ea typeface="Calibri" pitchFamily="34" charset="-122"/>
                <a:cs typeface="Calibri" pitchFamily="34" charset="-120"/>
              </a:rPr>
              <a:t>HISTORY / TIME
</a:t>
            </a:r>
            <a:pPr indent="0" marL="0">
              <a:lnSpc>
                <a:spcPct val="100000"/>
              </a:lnSpc>
              <a:buNone/>
            </a:pPr>
            <a:r>
              <a:rPr lang="en-US" sz="1250" i="1" dirty="0">
                <a:solidFill>
                  <a:srgbClr val="8A93B2"/>
                </a:solidFill>
                <a:latin typeface="Calibri" pitchFamily="34" charset="0"/>
                <a:ea typeface="Calibri" pitchFamily="34" charset="-122"/>
                <a:cs typeface="Calibri" pitchFamily="34" charset="-120"/>
              </a:rPr>
              <a:t>more changes of mind on slow, deliberative trials</a:t>
            </a:r>
            <a:endParaRPr lang="en-US" sz="1600" dirty="0"/>
          </a:p>
        </p:txBody>
      </p:sp>
      <p:sp>
        <p:nvSpPr>
          <p:cNvPr id="17" name="Shape 15"/>
          <p:cNvSpPr/>
          <p:nvPr/>
        </p:nvSpPr>
        <p:spPr>
          <a:xfrm>
            <a:off x="640080" y="6053328"/>
            <a:ext cx="10881360" cy="566928"/>
          </a:xfrm>
          <a:prstGeom prst="roundRect">
            <a:avLst>
              <a:gd name="adj" fmla="val 14516"/>
            </a:avLst>
          </a:prstGeom>
          <a:solidFill>
            <a:srgbClr val="EEF3FC"/>
          </a:solidFill>
          <a:ln/>
        </p:spPr>
      </p:sp>
      <p:sp>
        <p:nvSpPr>
          <p:cNvPr id="18" name="Text 16"/>
          <p:cNvSpPr/>
          <p:nvPr/>
        </p:nvSpPr>
        <p:spPr>
          <a:xfrm>
            <a:off x="868680" y="6053328"/>
            <a:ext cx="10424160" cy="566928"/>
          </a:xfrm>
          <a:prstGeom prst="rect">
            <a:avLst/>
          </a:prstGeom>
          <a:noFill/>
          <a:ln/>
        </p:spPr>
        <p:txBody>
          <a:bodyPr wrap="square" rtlCol="0" anchor="ctr"/>
          <a:lstStyle/>
          <a:p>
            <a:pPr algn="ctr" indent="0" marL="0">
              <a:buNone/>
            </a:pPr>
            <a:pPr algn="ctr" indent="0" marL="0">
              <a:buNone/>
            </a:pPr>
            <a:r>
              <a:rPr lang="en-US" sz="1400" b="1" dirty="0">
                <a:solidFill>
                  <a:srgbClr val="1E2761"/>
                </a:solidFill>
                <a:latin typeface="Calibri" pitchFamily="34" charset="0"/>
                <a:ea typeface="Calibri" pitchFamily="34" charset="-122"/>
                <a:cs typeface="Calibri" pitchFamily="34" charset="-120"/>
              </a:rPr>
              <a:t>Difficulty, accuracy, and timing each leave a mark — now we test movement time against the same three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9418320" cy="822960"/>
          </a:xfrm>
          <a:prstGeom prst="rect">
            <a:avLst/>
          </a:prstGeom>
          <a:noFill/>
          <a:ln/>
        </p:spPr>
        <p:txBody>
          <a:bodyPr wrap="square" rtlCol="0" anchor="ctr"/>
          <a:lstStyle/>
          <a:p>
            <a:pPr algn="l" indent="0" marL="0">
              <a:buNone/>
            </a:pPr>
            <a:r>
              <a:rPr lang="en-US" sz="2500" b="1" dirty="0">
                <a:solidFill>
                  <a:srgbClr val="1E2761"/>
                </a:solidFill>
                <a:latin typeface="Cambria" pitchFamily="34" charset="0"/>
                <a:ea typeface="Cambria" pitchFamily="34" charset="-122"/>
                <a:cs typeface="Cambria" pitchFamily="34" charset="-120"/>
              </a:rPr>
              <a:t>The prediction, before any data</a:t>
            </a:r>
            <a:endParaRPr lang="en-US" sz="2500" dirty="0"/>
          </a:p>
        </p:txBody>
      </p:sp>
      <p:sp>
        <p:nvSpPr>
          <p:cNvPr id="3" name="Shape 1"/>
          <p:cNvSpPr/>
          <p:nvPr/>
        </p:nvSpPr>
        <p:spPr>
          <a:xfrm>
            <a:off x="10149840" y="365760"/>
            <a:ext cx="1536192" cy="475488"/>
          </a:xfrm>
          <a:prstGeom prst="roundRect">
            <a:avLst>
              <a:gd name="adj" fmla="val 19231"/>
            </a:avLst>
          </a:prstGeom>
          <a:solidFill>
            <a:srgbClr val="EEF3FC"/>
          </a:solidFill>
          <a:ln/>
        </p:spPr>
      </p:sp>
      <p:sp>
        <p:nvSpPr>
          <p:cNvPr id="4" name="Text 2"/>
          <p:cNvSpPr/>
          <p:nvPr/>
        </p:nvSpPr>
        <p:spPr>
          <a:xfrm>
            <a:off x="10149840" y="365760"/>
            <a:ext cx="1536192" cy="475488"/>
          </a:xfrm>
          <a:prstGeom prst="rect">
            <a:avLst/>
          </a:prstGeom>
          <a:noFill/>
          <a:ln/>
        </p:spPr>
        <p:txBody>
          <a:bodyPr wrap="square" rtlCol="0" anchor="ctr"/>
          <a:lstStyle/>
          <a:p>
            <a:pPr algn="ctr" indent="0" marL="0">
              <a:buNone/>
            </a:pPr>
            <a:r>
              <a:rPr lang="en-US" sz="1100" b="1" dirty="0">
                <a:solidFill>
                  <a:srgbClr val="3A4A7A"/>
                </a:solidFill>
                <a:latin typeface="Calibri" pitchFamily="34" charset="0"/>
                <a:ea typeface="Calibri" pitchFamily="34" charset="-122"/>
                <a:cs typeface="Calibri" pitchFamily="34" charset="-120"/>
              </a:rPr>
              <a:t>INTRO</a:t>
            </a:r>
            <a:endParaRPr lang="en-US" sz="1100" dirty="0"/>
          </a:p>
        </p:txBody>
      </p:sp>
      <p:sp>
        <p:nvSpPr>
          <p:cNvPr id="5" name="Text 3"/>
          <p:cNvSpPr/>
          <p:nvPr/>
        </p:nvSpPr>
        <p:spPr>
          <a:xfrm>
            <a:off x="11612880" y="6455664"/>
            <a:ext cx="457200" cy="274320"/>
          </a:xfrm>
          <a:prstGeom prst="rect">
            <a:avLst/>
          </a:prstGeom>
          <a:noFill/>
          <a:ln/>
        </p:spPr>
        <p:txBody>
          <a:bodyPr wrap="square" rtlCol="0" anchor="ctr"/>
          <a:lstStyle/>
          <a:p>
            <a:pPr algn="r" indent="0" marL="0">
              <a:buNone/>
            </a:pPr>
            <a:r>
              <a:rPr lang="en-US" sz="1000" dirty="0">
                <a:solidFill>
                  <a:srgbClr val="8A93B2"/>
                </a:solidFill>
                <a:latin typeface="Calibri" pitchFamily="34" charset="0"/>
                <a:ea typeface="Calibri" pitchFamily="34" charset="-122"/>
                <a:cs typeface="Calibri" pitchFamily="34" charset="-120"/>
              </a:rPr>
              <a:t>6</a:t>
            </a:r>
            <a:endParaRPr lang="en-US" sz="1000" dirty="0"/>
          </a:p>
        </p:txBody>
      </p:sp>
      <p:pic>
        <p:nvPicPr>
          <p:cNvPr id="6" name="Image 0" descr="/sessions/bold-sleepy-planck/mnt/Fast &amp; Slow/fig_rubric.png">    </p:cNvPr>
          <p:cNvPicPr>
            <a:picLocks noChangeAspect="1"/>
          </p:cNvPicPr>
          <p:nvPr/>
        </p:nvPicPr>
        <p:blipFill>
          <a:blip r:embed="rId1"/>
          <a:stretch>
            <a:fillRect/>
          </a:stretch>
        </p:blipFill>
        <p:spPr>
          <a:xfrm>
            <a:off x="1603858" y="1371600"/>
            <a:ext cx="8953805" cy="4389120"/>
          </a:xfrm>
          <a:prstGeom prst="rect">
            <a:avLst/>
          </a:prstGeom>
        </p:spPr>
      </p:pic>
      <p:sp>
        <p:nvSpPr>
          <p:cNvPr id="7" name="Shape 4"/>
          <p:cNvSpPr/>
          <p:nvPr/>
        </p:nvSpPr>
        <p:spPr>
          <a:xfrm>
            <a:off x="640080" y="6053328"/>
            <a:ext cx="10881360" cy="566928"/>
          </a:xfrm>
          <a:prstGeom prst="roundRect">
            <a:avLst>
              <a:gd name="adj" fmla="val 14516"/>
            </a:avLst>
          </a:prstGeom>
          <a:solidFill>
            <a:srgbClr val="EEF3FC"/>
          </a:solidFill>
          <a:ln/>
        </p:spPr>
      </p:sp>
      <p:sp>
        <p:nvSpPr>
          <p:cNvPr id="8" name="Text 5"/>
          <p:cNvSpPr/>
          <p:nvPr/>
        </p:nvSpPr>
        <p:spPr>
          <a:xfrm>
            <a:off x="868680" y="6053328"/>
            <a:ext cx="10424160" cy="566928"/>
          </a:xfrm>
          <a:prstGeom prst="rect">
            <a:avLst/>
          </a:prstGeom>
          <a:noFill/>
          <a:ln/>
        </p:spPr>
        <p:txBody>
          <a:bodyPr wrap="square" rtlCol="0" anchor="ctr"/>
          <a:lstStyle/>
          <a:p>
            <a:pPr algn="ctr" indent="0" marL="0">
              <a:buNone/>
            </a:pPr>
            <a:pPr algn="ctr" indent="0" marL="0">
              <a:buNone/>
            </a:pPr>
            <a:r>
              <a:rPr lang="en-US" sz="1400" b="1" dirty="0">
                <a:solidFill>
                  <a:srgbClr val="1E2761"/>
                </a:solidFill>
                <a:latin typeface="Calibri" pitchFamily="34" charset="0"/>
                <a:ea typeface="Calibri" pitchFamily="34" charset="-122"/>
                <a:cs typeface="Calibri" pitchFamily="34" charset="-120"/>
              </a:rPr>
              <a:t>Each analysis slide tests one of these three — and if one fails, I'll say so</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9418320" cy="822960"/>
          </a:xfrm>
          <a:prstGeom prst="rect">
            <a:avLst/>
          </a:prstGeom>
          <a:noFill/>
          <a:ln/>
        </p:spPr>
        <p:txBody>
          <a:bodyPr wrap="square" rtlCol="0" anchor="ctr"/>
          <a:lstStyle/>
          <a:p>
            <a:pPr algn="l" indent="0" marL="0">
              <a:buNone/>
            </a:pPr>
            <a:r>
              <a:rPr lang="en-US" sz="2500" b="1" dirty="0">
                <a:solidFill>
                  <a:srgbClr val="1E2761"/>
                </a:solidFill>
                <a:latin typeface="Cambria" pitchFamily="34" charset="0"/>
                <a:ea typeface="Cambria" pitchFamily="34" charset="-122"/>
                <a:cs typeface="Cambria" pitchFamily="34" charset="-120"/>
              </a:rPr>
              <a:t>Defining &amp; cleaning movement time</a:t>
            </a:r>
            <a:endParaRPr lang="en-US" sz="2500" dirty="0"/>
          </a:p>
        </p:txBody>
      </p:sp>
      <p:sp>
        <p:nvSpPr>
          <p:cNvPr id="3" name="Shape 1"/>
          <p:cNvSpPr/>
          <p:nvPr/>
        </p:nvSpPr>
        <p:spPr>
          <a:xfrm>
            <a:off x="10149840" y="365760"/>
            <a:ext cx="1536192" cy="475488"/>
          </a:xfrm>
          <a:prstGeom prst="roundRect">
            <a:avLst>
              <a:gd name="adj" fmla="val 19231"/>
            </a:avLst>
          </a:prstGeom>
          <a:solidFill>
            <a:srgbClr val="EEF3FC"/>
          </a:solidFill>
          <a:ln/>
        </p:spPr>
      </p:sp>
      <p:sp>
        <p:nvSpPr>
          <p:cNvPr id="4" name="Text 2"/>
          <p:cNvSpPr/>
          <p:nvPr/>
        </p:nvSpPr>
        <p:spPr>
          <a:xfrm>
            <a:off x="10149840" y="365760"/>
            <a:ext cx="1536192" cy="475488"/>
          </a:xfrm>
          <a:prstGeom prst="rect">
            <a:avLst/>
          </a:prstGeom>
          <a:noFill/>
          <a:ln/>
        </p:spPr>
        <p:txBody>
          <a:bodyPr wrap="square" rtlCol="0" anchor="ctr"/>
          <a:lstStyle/>
          <a:p>
            <a:pPr algn="ctr" indent="0" marL="0">
              <a:buNone/>
            </a:pPr>
            <a:r>
              <a:rPr lang="en-US" sz="1100" b="1" dirty="0">
                <a:solidFill>
                  <a:srgbClr val="3A4A7A"/>
                </a:solidFill>
                <a:latin typeface="Calibri" pitchFamily="34" charset="0"/>
                <a:ea typeface="Calibri" pitchFamily="34" charset="-122"/>
                <a:cs typeface="Calibri" pitchFamily="34" charset="-120"/>
              </a:rPr>
              <a:t>ANALYSIS · method</a:t>
            </a:r>
            <a:endParaRPr lang="en-US" sz="1100" dirty="0"/>
          </a:p>
        </p:txBody>
      </p:sp>
      <p:sp>
        <p:nvSpPr>
          <p:cNvPr id="5" name="Text 3"/>
          <p:cNvSpPr/>
          <p:nvPr/>
        </p:nvSpPr>
        <p:spPr>
          <a:xfrm>
            <a:off x="11612880" y="6455664"/>
            <a:ext cx="457200" cy="274320"/>
          </a:xfrm>
          <a:prstGeom prst="rect">
            <a:avLst/>
          </a:prstGeom>
          <a:noFill/>
          <a:ln/>
        </p:spPr>
        <p:txBody>
          <a:bodyPr wrap="square" rtlCol="0" anchor="ctr"/>
          <a:lstStyle/>
          <a:p>
            <a:pPr algn="r" indent="0" marL="0">
              <a:buNone/>
            </a:pPr>
            <a:r>
              <a:rPr lang="en-US" sz="1000" dirty="0">
                <a:solidFill>
                  <a:srgbClr val="8A93B2"/>
                </a:solidFill>
                <a:latin typeface="Calibri" pitchFamily="34" charset="0"/>
                <a:ea typeface="Calibri" pitchFamily="34" charset="-122"/>
                <a:cs typeface="Calibri" pitchFamily="34" charset="-120"/>
              </a:rPr>
              <a:t>7</a:t>
            </a:r>
            <a:endParaRPr lang="en-US" sz="1000" dirty="0"/>
          </a:p>
        </p:txBody>
      </p:sp>
      <p:pic>
        <p:nvPicPr>
          <p:cNvPr id="6" name="Image 0" descr="/sessions/bold-sleepy-planck/mnt/Fast &amp; Slow/movement_time_histograms.png">    </p:cNvPr>
          <p:cNvPicPr>
            <a:picLocks noChangeAspect="1"/>
          </p:cNvPicPr>
          <p:nvPr/>
        </p:nvPicPr>
        <p:blipFill>
          <a:blip r:embed="rId1"/>
          <a:stretch>
            <a:fillRect/>
          </a:stretch>
        </p:blipFill>
        <p:spPr>
          <a:xfrm>
            <a:off x="1728536" y="1371600"/>
            <a:ext cx="8704448" cy="2880360"/>
          </a:xfrm>
          <a:prstGeom prst="rect">
            <a:avLst/>
          </a:prstGeom>
        </p:spPr>
      </p:pic>
      <p:pic>
        <p:nvPicPr>
          <p:cNvPr id="7" name="Image 1" descr="/sessions/bold-sleepy-planck/mnt/Fast &amp; Slow/trimming_methods_comparison.png">    </p:cNvPr>
          <p:cNvPicPr>
            <a:picLocks noChangeAspect="1"/>
          </p:cNvPicPr>
          <p:nvPr/>
        </p:nvPicPr>
        <p:blipFill>
          <a:blip r:embed="rId2"/>
          <a:stretch>
            <a:fillRect/>
          </a:stretch>
        </p:blipFill>
        <p:spPr>
          <a:xfrm>
            <a:off x="3604450" y="4343400"/>
            <a:ext cx="4952619" cy="1600200"/>
          </a:xfrm>
          <a:prstGeom prst="rect">
            <a:avLst/>
          </a:prstGeom>
        </p:spPr>
      </p:pic>
      <p:sp>
        <p:nvSpPr>
          <p:cNvPr id="8" name="Shape 4"/>
          <p:cNvSpPr/>
          <p:nvPr/>
        </p:nvSpPr>
        <p:spPr>
          <a:xfrm>
            <a:off x="640080" y="6053328"/>
            <a:ext cx="10881360" cy="566928"/>
          </a:xfrm>
          <a:prstGeom prst="roundRect">
            <a:avLst>
              <a:gd name="adj" fmla="val 14516"/>
            </a:avLst>
          </a:prstGeom>
          <a:solidFill>
            <a:srgbClr val="3A4A7A"/>
          </a:solidFill>
          <a:ln/>
        </p:spPr>
      </p:sp>
      <p:sp>
        <p:nvSpPr>
          <p:cNvPr id="9" name="Text 5"/>
          <p:cNvSpPr/>
          <p:nvPr/>
        </p:nvSpPr>
        <p:spPr>
          <a:xfrm>
            <a:off x="868680" y="6053328"/>
            <a:ext cx="10424160" cy="566928"/>
          </a:xfrm>
          <a:prstGeom prst="rect">
            <a:avLst/>
          </a:prstGeom>
          <a:noFill/>
          <a:ln/>
        </p:spPr>
        <p:txBody>
          <a:bodyPr wrap="square" rtlCol="0" anchor="ctr"/>
          <a:lstStyle/>
          <a:p>
            <a:pPr algn="ctr" indent="0" marL="0">
              <a:buNone/>
            </a:pPr>
            <a:pPr algn="ctr" indent="0" marL="0">
              <a:buNone/>
            </a:pPr>
            <a:r>
              <a:rPr lang="en-US" sz="1400" b="1" dirty="0">
                <a:solidFill>
                  <a:srgbClr val="FFFFFF"/>
                </a:solidFill>
                <a:latin typeface="Calibri" pitchFamily="34" charset="0"/>
                <a:ea typeface="Calibri" pitchFamily="34" charset="-122"/>
                <a:cs typeface="Calibri" pitchFamily="34" charset="-120"/>
              </a:rPr>
              <a:t>MT = the 'movement to lateral port' epoch, trimmed at 1st/99th percentile — the effects aren't outlier artifacts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9418320" cy="822960"/>
          </a:xfrm>
          <a:prstGeom prst="rect">
            <a:avLst/>
          </a:prstGeom>
          <a:noFill/>
          <a:ln/>
        </p:spPr>
        <p:txBody>
          <a:bodyPr wrap="square" rtlCol="0" anchor="ctr"/>
          <a:lstStyle/>
          <a:p>
            <a:pPr algn="l" indent="0" marL="0">
              <a:buNone/>
            </a:pPr>
            <a:r>
              <a:rPr lang="en-US" sz="2500" b="1" dirty="0">
                <a:solidFill>
                  <a:srgbClr val="1E2761"/>
                </a:solidFill>
                <a:latin typeface="Cambria" pitchFamily="34" charset="0"/>
                <a:ea typeface="Cambria" pitchFamily="34" charset="-122"/>
                <a:cs typeface="Cambria" pitchFamily="34" charset="-120"/>
              </a:rPr>
              <a:t>First a sanity check: is the effect there across sessions?</a:t>
            </a:r>
            <a:endParaRPr lang="en-US" sz="2500" dirty="0"/>
          </a:p>
        </p:txBody>
      </p:sp>
      <p:sp>
        <p:nvSpPr>
          <p:cNvPr id="3" name="Shape 1"/>
          <p:cNvSpPr/>
          <p:nvPr/>
        </p:nvSpPr>
        <p:spPr>
          <a:xfrm>
            <a:off x="10149840" y="365760"/>
            <a:ext cx="1536192" cy="475488"/>
          </a:xfrm>
          <a:prstGeom prst="roundRect">
            <a:avLst>
              <a:gd name="adj" fmla="val 19231"/>
            </a:avLst>
          </a:prstGeom>
          <a:solidFill>
            <a:srgbClr val="EEF3FC"/>
          </a:solidFill>
          <a:ln/>
        </p:spPr>
      </p:sp>
      <p:sp>
        <p:nvSpPr>
          <p:cNvPr id="4" name="Text 2"/>
          <p:cNvSpPr/>
          <p:nvPr/>
        </p:nvSpPr>
        <p:spPr>
          <a:xfrm>
            <a:off x="10149840" y="365760"/>
            <a:ext cx="1536192" cy="475488"/>
          </a:xfrm>
          <a:prstGeom prst="rect">
            <a:avLst/>
          </a:prstGeom>
          <a:noFill/>
          <a:ln/>
        </p:spPr>
        <p:txBody>
          <a:bodyPr wrap="square" rtlCol="0" anchor="ctr"/>
          <a:lstStyle/>
          <a:p>
            <a:pPr algn="ctr" indent="0" marL="0">
              <a:buNone/>
            </a:pPr>
            <a:r>
              <a:rPr lang="en-US" sz="1100" b="1" dirty="0">
                <a:solidFill>
                  <a:srgbClr val="3A4A7A"/>
                </a:solidFill>
                <a:latin typeface="Calibri" pitchFamily="34" charset="0"/>
                <a:ea typeface="Calibri" pitchFamily="34" charset="-122"/>
                <a:cs typeface="Calibri" pitchFamily="34" charset="-120"/>
              </a:rPr>
              <a:t>ANALYSIS · robustness</a:t>
            </a:r>
            <a:endParaRPr lang="en-US" sz="1100" dirty="0"/>
          </a:p>
        </p:txBody>
      </p:sp>
      <p:sp>
        <p:nvSpPr>
          <p:cNvPr id="5" name="Text 3"/>
          <p:cNvSpPr/>
          <p:nvPr/>
        </p:nvSpPr>
        <p:spPr>
          <a:xfrm>
            <a:off x="11612880" y="6455664"/>
            <a:ext cx="457200" cy="274320"/>
          </a:xfrm>
          <a:prstGeom prst="rect">
            <a:avLst/>
          </a:prstGeom>
          <a:noFill/>
          <a:ln/>
        </p:spPr>
        <p:txBody>
          <a:bodyPr wrap="square" rtlCol="0" anchor="ctr"/>
          <a:lstStyle/>
          <a:p>
            <a:pPr algn="r" indent="0" marL="0">
              <a:buNone/>
            </a:pPr>
            <a:r>
              <a:rPr lang="en-US" sz="1000" dirty="0">
                <a:solidFill>
                  <a:srgbClr val="8A93B2"/>
                </a:solidFill>
                <a:latin typeface="Calibri" pitchFamily="34" charset="0"/>
                <a:ea typeface="Calibri" pitchFamily="34" charset="-122"/>
                <a:cs typeface="Calibri" pitchFamily="34" charset="-120"/>
              </a:rPr>
              <a:t>8</a:t>
            </a:r>
            <a:endParaRPr lang="en-US" sz="1000" dirty="0"/>
          </a:p>
        </p:txBody>
      </p:sp>
      <p:pic>
        <p:nvPicPr>
          <p:cNvPr id="6" name="Image 0" descr="/sessions/bold-sleepy-planck/mnt/Fast &amp; Slow/movement_time_per_session.png">    </p:cNvPr>
          <p:cNvPicPr>
            <a:picLocks noChangeAspect="1"/>
          </p:cNvPicPr>
          <p:nvPr/>
        </p:nvPicPr>
        <p:blipFill>
          <a:blip r:embed="rId1"/>
          <a:stretch>
            <a:fillRect/>
          </a:stretch>
        </p:blipFill>
        <p:spPr>
          <a:xfrm>
            <a:off x="1121694" y="1371600"/>
            <a:ext cx="5529011" cy="4480560"/>
          </a:xfrm>
          <a:prstGeom prst="rect">
            <a:avLst/>
          </a:prstGeom>
        </p:spPr>
      </p:pic>
      <p:pic>
        <p:nvPicPr>
          <p:cNvPr id="7" name="Image 1" descr="/sessions/bold-sleepy-planck/mnt/Fast &amp; Slow/movement_time_vs_coherence.png">    </p:cNvPr>
          <p:cNvPicPr>
            <a:picLocks noChangeAspect="1"/>
          </p:cNvPicPr>
          <p:nvPr/>
        </p:nvPicPr>
        <p:blipFill>
          <a:blip r:embed="rId2"/>
          <a:stretch>
            <a:fillRect/>
          </a:stretch>
        </p:blipFill>
        <p:spPr>
          <a:xfrm>
            <a:off x="7360920" y="1954986"/>
            <a:ext cx="4343400" cy="3039468"/>
          </a:xfrm>
          <a:prstGeom prst="rect">
            <a:avLst/>
          </a:prstGeom>
        </p:spPr>
      </p:pic>
      <p:sp>
        <p:nvSpPr>
          <p:cNvPr id="8" name="Text 4"/>
          <p:cNvSpPr/>
          <p:nvPr/>
        </p:nvSpPr>
        <p:spPr>
          <a:xfrm>
            <a:off x="548640" y="5742432"/>
            <a:ext cx="6675120" cy="292608"/>
          </a:xfrm>
          <a:prstGeom prst="rect">
            <a:avLst/>
          </a:prstGeom>
          <a:noFill/>
          <a:ln/>
        </p:spPr>
        <p:txBody>
          <a:bodyPr wrap="square" rtlCol="0" anchor="ctr"/>
          <a:lstStyle/>
          <a:p>
            <a:pPr algn="ctr" indent="0" marL="0">
              <a:buNone/>
            </a:pPr>
            <a:r>
              <a:rPr lang="en-US" sz="1100" i="1" dirty="0">
                <a:solidFill>
                  <a:srgbClr val="8A93B2"/>
                </a:solidFill>
                <a:latin typeface="Calibri" pitchFamily="34" charset="0"/>
                <a:ea typeface="Calibri" pitchFamily="34" charset="-122"/>
                <a:cs typeface="Calibri" pitchFamily="34" charset="-120"/>
              </a:rPr>
              <a:t>each of 23 sessions individually</a:t>
            </a:r>
            <a:endParaRPr lang="en-US" sz="1100" dirty="0"/>
          </a:p>
        </p:txBody>
      </p:sp>
      <p:sp>
        <p:nvSpPr>
          <p:cNvPr id="9" name="Text 5"/>
          <p:cNvSpPr/>
          <p:nvPr/>
        </p:nvSpPr>
        <p:spPr>
          <a:xfrm>
            <a:off x="7360920" y="5303520"/>
            <a:ext cx="4343400" cy="292608"/>
          </a:xfrm>
          <a:prstGeom prst="rect">
            <a:avLst/>
          </a:prstGeom>
          <a:noFill/>
          <a:ln/>
        </p:spPr>
        <p:txBody>
          <a:bodyPr wrap="square" rtlCol="0" anchor="ctr"/>
          <a:lstStyle/>
          <a:p>
            <a:pPr algn="ctr" indent="0" marL="0">
              <a:buNone/>
            </a:pPr>
            <a:r>
              <a:rPr lang="en-US" sz="1100" i="1" dirty="0">
                <a:solidFill>
                  <a:srgbClr val="8A93B2"/>
                </a:solidFill>
                <a:latin typeface="Calibri" pitchFamily="34" charset="0"/>
                <a:ea typeface="Calibri" pitchFamily="34" charset="-122"/>
                <a:cs typeface="Calibri" pitchFamily="34" charset="-120"/>
              </a:rPr>
              <a:t>average across sessions (± SEM)</a:t>
            </a:r>
            <a:endParaRPr lang="en-US" sz="1100" dirty="0"/>
          </a:p>
        </p:txBody>
      </p:sp>
      <p:sp>
        <p:nvSpPr>
          <p:cNvPr id="10" name="Shape 6"/>
          <p:cNvSpPr/>
          <p:nvPr/>
        </p:nvSpPr>
        <p:spPr>
          <a:xfrm>
            <a:off x="640080" y="6053328"/>
            <a:ext cx="10881360" cy="566928"/>
          </a:xfrm>
          <a:prstGeom prst="roundRect">
            <a:avLst>
              <a:gd name="adj" fmla="val 14516"/>
            </a:avLst>
          </a:prstGeom>
          <a:solidFill>
            <a:srgbClr val="3A4A7A"/>
          </a:solidFill>
          <a:ln/>
        </p:spPr>
      </p:sp>
      <p:sp>
        <p:nvSpPr>
          <p:cNvPr id="11" name="Text 7"/>
          <p:cNvSpPr/>
          <p:nvPr/>
        </p:nvSpPr>
        <p:spPr>
          <a:xfrm>
            <a:off x="868680" y="6053328"/>
            <a:ext cx="10424160" cy="566928"/>
          </a:xfrm>
          <a:prstGeom prst="rect">
            <a:avLst/>
          </a:prstGeom>
          <a:noFill/>
          <a:ln/>
        </p:spPr>
        <p:txBody>
          <a:bodyPr wrap="square" rtlCol="0" anchor="ctr"/>
          <a:lstStyle/>
          <a:p>
            <a:pPr algn="ctr" indent="0" marL="0">
              <a:buNone/>
            </a:pPr>
            <a:pPr algn="ctr" indent="0" marL="0">
              <a:buNone/>
            </a:pPr>
            <a:r>
              <a:rPr lang="en-US" sz="1400" b="1" dirty="0">
                <a:solidFill>
                  <a:srgbClr val="FFFFFF"/>
                </a:solidFill>
                <a:latin typeface="Calibri" pitchFamily="34" charset="0"/>
                <a:ea typeface="Calibri" pitchFamily="34" charset="-122"/>
                <a:cs typeface="Calibri" pitchFamily="34" charset="-120"/>
              </a:rPr>
              <a:t>Every session, and the 23-session average, show the same shape — errors slow down at high coherence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9418320" cy="822960"/>
          </a:xfrm>
          <a:prstGeom prst="rect">
            <a:avLst/>
          </a:prstGeom>
          <a:noFill/>
          <a:ln/>
        </p:spPr>
        <p:txBody>
          <a:bodyPr wrap="square" rtlCol="0" anchor="ctr"/>
          <a:lstStyle/>
          <a:p>
            <a:pPr algn="l" indent="0" marL="0">
              <a:buNone/>
            </a:pPr>
            <a:r>
              <a:rPr lang="en-US" sz="2500" b="1" dirty="0">
                <a:solidFill>
                  <a:srgbClr val="1E2761"/>
                </a:solidFill>
                <a:latin typeface="Cambria" pitchFamily="34" charset="0"/>
                <a:ea typeface="Cambria" pitchFamily="34" charset="-122"/>
                <a:cs typeface="Cambria" pitchFamily="34" charset="-120"/>
              </a:rPr>
              <a:t>Signature 1 · Difficulty — mistakes are slowest when the answer was obvious</a:t>
            </a:r>
            <a:endParaRPr lang="en-US" sz="2500" dirty="0"/>
          </a:p>
        </p:txBody>
      </p:sp>
      <p:sp>
        <p:nvSpPr>
          <p:cNvPr id="3" name="Shape 1"/>
          <p:cNvSpPr/>
          <p:nvPr/>
        </p:nvSpPr>
        <p:spPr>
          <a:xfrm>
            <a:off x="10149840" y="365760"/>
            <a:ext cx="1536192" cy="475488"/>
          </a:xfrm>
          <a:prstGeom prst="roundRect">
            <a:avLst>
              <a:gd name="adj" fmla="val 19231"/>
            </a:avLst>
          </a:prstGeom>
          <a:solidFill>
            <a:srgbClr val="EEF3FC"/>
          </a:solidFill>
          <a:ln/>
        </p:spPr>
      </p:sp>
      <p:sp>
        <p:nvSpPr>
          <p:cNvPr id="4" name="Text 2"/>
          <p:cNvSpPr/>
          <p:nvPr/>
        </p:nvSpPr>
        <p:spPr>
          <a:xfrm>
            <a:off x="10149840" y="365760"/>
            <a:ext cx="1536192" cy="475488"/>
          </a:xfrm>
          <a:prstGeom prst="rect">
            <a:avLst/>
          </a:prstGeom>
          <a:noFill/>
          <a:ln/>
        </p:spPr>
        <p:txBody>
          <a:bodyPr wrap="square" rtlCol="0" anchor="ctr"/>
          <a:lstStyle/>
          <a:p>
            <a:pPr algn="ctr" indent="0" marL="0">
              <a:buNone/>
            </a:pPr>
            <a:r>
              <a:rPr lang="en-US" sz="1100" b="1" dirty="0">
                <a:solidFill>
                  <a:srgbClr val="3A4A7A"/>
                </a:solidFill>
                <a:latin typeface="Calibri" pitchFamily="34" charset="0"/>
                <a:ea typeface="Calibri" pitchFamily="34" charset="-122"/>
                <a:cs typeface="Calibri" pitchFamily="34" charset="-120"/>
              </a:rPr>
              <a:t>SIGNATURE 1/3</a:t>
            </a:r>
            <a:endParaRPr lang="en-US" sz="1100" dirty="0"/>
          </a:p>
        </p:txBody>
      </p:sp>
      <p:sp>
        <p:nvSpPr>
          <p:cNvPr id="5" name="Text 3"/>
          <p:cNvSpPr/>
          <p:nvPr/>
        </p:nvSpPr>
        <p:spPr>
          <a:xfrm>
            <a:off x="11612880" y="6455664"/>
            <a:ext cx="457200" cy="274320"/>
          </a:xfrm>
          <a:prstGeom prst="rect">
            <a:avLst/>
          </a:prstGeom>
          <a:noFill/>
          <a:ln/>
        </p:spPr>
        <p:txBody>
          <a:bodyPr wrap="square" rtlCol="0" anchor="ctr"/>
          <a:lstStyle/>
          <a:p>
            <a:pPr algn="r" indent="0" marL="0">
              <a:buNone/>
            </a:pPr>
            <a:r>
              <a:rPr lang="en-US" sz="1000" dirty="0">
                <a:solidFill>
                  <a:srgbClr val="8A93B2"/>
                </a:solidFill>
                <a:latin typeface="Calibri" pitchFamily="34" charset="0"/>
                <a:ea typeface="Calibri" pitchFamily="34" charset="-122"/>
                <a:cs typeface="Calibri" pitchFamily="34" charset="-120"/>
              </a:rPr>
              <a:t>9</a:t>
            </a:r>
            <a:endParaRPr lang="en-US" sz="1000" dirty="0"/>
          </a:p>
        </p:txBody>
      </p:sp>
      <p:pic>
        <p:nvPicPr>
          <p:cNvPr id="6" name="Image 0" descr="/sessions/bold-sleepy-planck/mnt/Fast &amp; Slow/movement_time_vs_coherence_orig.png">    </p:cNvPr>
          <p:cNvPicPr>
            <a:picLocks noChangeAspect="1"/>
          </p:cNvPicPr>
          <p:nvPr/>
        </p:nvPicPr>
        <p:blipFill>
          <a:blip r:embed="rId1"/>
          <a:stretch>
            <a:fillRect/>
          </a:stretch>
        </p:blipFill>
        <p:spPr>
          <a:xfrm>
            <a:off x="2912067" y="1325880"/>
            <a:ext cx="6337386" cy="4434840"/>
          </a:xfrm>
          <a:prstGeom prst="rect">
            <a:avLst/>
          </a:prstGeom>
        </p:spPr>
      </p:pic>
      <p:sp>
        <p:nvSpPr>
          <p:cNvPr id="7" name="Shape 4"/>
          <p:cNvSpPr/>
          <p:nvPr/>
        </p:nvSpPr>
        <p:spPr>
          <a:xfrm>
            <a:off x="640080" y="6053328"/>
            <a:ext cx="10881360" cy="566928"/>
          </a:xfrm>
          <a:prstGeom prst="roundRect">
            <a:avLst>
              <a:gd name="adj" fmla="val 14516"/>
            </a:avLst>
          </a:prstGeom>
          <a:solidFill>
            <a:srgbClr val="1E2761"/>
          </a:solidFill>
          <a:ln/>
        </p:spPr>
      </p:sp>
      <p:sp>
        <p:nvSpPr>
          <p:cNvPr id="8" name="Text 5"/>
          <p:cNvSpPr/>
          <p:nvPr/>
        </p:nvSpPr>
        <p:spPr>
          <a:xfrm>
            <a:off x="868680" y="6053328"/>
            <a:ext cx="10424160" cy="56692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a:t>
            </a:r>
            <a:pPr algn="ctr" indent="0" marL="0">
              <a:buNone/>
            </a:pPr>
            <a:r>
              <a:rPr lang="en-US" sz="1400" b="1" dirty="0">
                <a:solidFill>
                  <a:srgbClr val="FFFFFF"/>
                </a:solidFill>
                <a:latin typeface="Calibri" pitchFamily="34" charset="0"/>
                <a:ea typeface="Calibri" pitchFamily="34" charset="-122"/>
                <a:cs typeface="Calibri" pitchFamily="34" charset="-120"/>
              </a:rPr>
              <a:t>An easy-trial error is exactly where you'd expect a change of mind — and the movement shows it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9418320" cy="822960"/>
          </a:xfrm>
          <a:prstGeom prst="rect">
            <a:avLst/>
          </a:prstGeom>
          <a:noFill/>
          <a:ln/>
        </p:spPr>
        <p:txBody>
          <a:bodyPr wrap="square" rtlCol="0" anchor="ctr"/>
          <a:lstStyle/>
          <a:p>
            <a:pPr algn="l" indent="0" marL="0">
              <a:buNone/>
            </a:pPr>
            <a:r>
              <a:rPr lang="en-US" sz="2500" b="1" dirty="0">
                <a:solidFill>
                  <a:srgbClr val="1E2761"/>
                </a:solidFill>
                <a:latin typeface="Cambria" pitchFamily="34" charset="0"/>
                <a:ea typeface="Cambria" pitchFamily="34" charset="-122"/>
                <a:cs typeface="Cambria" pitchFamily="34" charset="-120"/>
              </a:rPr>
              <a:t>Signature 2 · Accuracy — faster movements are more often right</a:t>
            </a:r>
            <a:endParaRPr lang="en-US" sz="2500" dirty="0"/>
          </a:p>
        </p:txBody>
      </p:sp>
      <p:sp>
        <p:nvSpPr>
          <p:cNvPr id="3" name="Shape 1"/>
          <p:cNvSpPr/>
          <p:nvPr/>
        </p:nvSpPr>
        <p:spPr>
          <a:xfrm>
            <a:off x="10149840" y="365760"/>
            <a:ext cx="1536192" cy="475488"/>
          </a:xfrm>
          <a:prstGeom prst="roundRect">
            <a:avLst>
              <a:gd name="adj" fmla="val 19231"/>
            </a:avLst>
          </a:prstGeom>
          <a:solidFill>
            <a:srgbClr val="EEF3FC"/>
          </a:solidFill>
          <a:ln/>
        </p:spPr>
      </p:sp>
      <p:sp>
        <p:nvSpPr>
          <p:cNvPr id="4" name="Text 2"/>
          <p:cNvSpPr/>
          <p:nvPr/>
        </p:nvSpPr>
        <p:spPr>
          <a:xfrm>
            <a:off x="10149840" y="365760"/>
            <a:ext cx="1536192" cy="475488"/>
          </a:xfrm>
          <a:prstGeom prst="rect">
            <a:avLst/>
          </a:prstGeom>
          <a:noFill/>
          <a:ln/>
        </p:spPr>
        <p:txBody>
          <a:bodyPr wrap="square" rtlCol="0" anchor="ctr"/>
          <a:lstStyle/>
          <a:p>
            <a:pPr algn="ctr" indent="0" marL="0">
              <a:buNone/>
            </a:pPr>
            <a:r>
              <a:rPr lang="en-US" sz="1100" b="1" dirty="0">
                <a:solidFill>
                  <a:srgbClr val="3A4A7A"/>
                </a:solidFill>
                <a:latin typeface="Calibri" pitchFamily="34" charset="0"/>
                <a:ea typeface="Calibri" pitchFamily="34" charset="-122"/>
                <a:cs typeface="Calibri" pitchFamily="34" charset="-120"/>
              </a:rPr>
              <a:t>SIGNATURE 2/3</a:t>
            </a:r>
            <a:endParaRPr lang="en-US" sz="1100" dirty="0"/>
          </a:p>
        </p:txBody>
      </p:sp>
      <p:sp>
        <p:nvSpPr>
          <p:cNvPr id="5" name="Text 3"/>
          <p:cNvSpPr/>
          <p:nvPr/>
        </p:nvSpPr>
        <p:spPr>
          <a:xfrm>
            <a:off x="11612880" y="6455664"/>
            <a:ext cx="457200" cy="274320"/>
          </a:xfrm>
          <a:prstGeom prst="rect">
            <a:avLst/>
          </a:prstGeom>
          <a:noFill/>
          <a:ln/>
        </p:spPr>
        <p:txBody>
          <a:bodyPr wrap="square" rtlCol="0" anchor="ctr"/>
          <a:lstStyle/>
          <a:p>
            <a:pPr algn="r" indent="0" marL="0">
              <a:buNone/>
            </a:pPr>
            <a:r>
              <a:rPr lang="en-US" sz="1000" dirty="0">
                <a:solidFill>
                  <a:srgbClr val="8A93B2"/>
                </a:solidFill>
                <a:latin typeface="Calibri" pitchFamily="34" charset="0"/>
                <a:ea typeface="Calibri" pitchFamily="34" charset="-122"/>
                <a:cs typeface="Calibri" pitchFamily="34" charset="-120"/>
              </a:rPr>
              <a:t>10</a:t>
            </a:r>
            <a:endParaRPr lang="en-US" sz="1000" dirty="0"/>
          </a:p>
        </p:txBody>
      </p:sp>
      <p:pic>
        <p:nvPicPr>
          <p:cNvPr id="6" name="Image 0" descr="/sessions/bold-sleepy-planck/mnt/Fast &amp; Slow/accuracy_vs_mt.png">    </p:cNvPr>
          <p:cNvPicPr>
            <a:picLocks noChangeAspect="1"/>
          </p:cNvPicPr>
          <p:nvPr/>
        </p:nvPicPr>
        <p:blipFill>
          <a:blip r:embed="rId1"/>
          <a:stretch>
            <a:fillRect/>
          </a:stretch>
        </p:blipFill>
        <p:spPr>
          <a:xfrm>
            <a:off x="3131271" y="1371600"/>
            <a:ext cx="5898977" cy="4389120"/>
          </a:xfrm>
          <a:prstGeom prst="rect">
            <a:avLst/>
          </a:prstGeom>
        </p:spPr>
      </p:pic>
      <p:sp>
        <p:nvSpPr>
          <p:cNvPr id="7" name="Shape 4"/>
          <p:cNvSpPr/>
          <p:nvPr/>
        </p:nvSpPr>
        <p:spPr>
          <a:xfrm>
            <a:off x="640080" y="6053328"/>
            <a:ext cx="10881360" cy="566928"/>
          </a:xfrm>
          <a:prstGeom prst="roundRect">
            <a:avLst>
              <a:gd name="adj" fmla="val 14516"/>
            </a:avLst>
          </a:prstGeom>
          <a:solidFill>
            <a:srgbClr val="1E2761"/>
          </a:solidFill>
          <a:ln/>
        </p:spPr>
      </p:sp>
      <p:sp>
        <p:nvSpPr>
          <p:cNvPr id="8" name="Text 5"/>
          <p:cNvSpPr/>
          <p:nvPr/>
        </p:nvSpPr>
        <p:spPr>
          <a:xfrm>
            <a:off x="868680" y="6053328"/>
            <a:ext cx="10424160" cy="56692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a:t>
            </a:r>
            <a:pPr algn="ctr" indent="0" marL="0">
              <a:buNone/>
            </a:pPr>
            <a:r>
              <a:rPr lang="en-US" sz="1400" b="1" dirty="0">
                <a:solidFill>
                  <a:srgbClr val="FFFFFF"/>
                </a:solidFill>
                <a:latin typeface="Calibri" pitchFamily="34" charset="0"/>
                <a:ea typeface="Calibri" pitchFamily="34" charset="-122"/>
                <a:cs typeface="Calibri" pitchFamily="34" charset="-120"/>
              </a:rPr>
              <a:t>True within every difficulty level — fast means sure means correct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9418320" cy="822960"/>
          </a:xfrm>
          <a:prstGeom prst="rect">
            <a:avLst/>
          </a:prstGeom>
          <a:noFill/>
          <a:ln/>
        </p:spPr>
        <p:txBody>
          <a:bodyPr wrap="square" rtlCol="0" anchor="ctr"/>
          <a:lstStyle/>
          <a:p>
            <a:pPr algn="l" indent="0" marL="0">
              <a:buNone/>
            </a:pPr>
            <a:r>
              <a:rPr lang="en-US" sz="2500" b="1" dirty="0">
                <a:solidFill>
                  <a:srgbClr val="1E2761"/>
                </a:solidFill>
                <a:latin typeface="Cambria" pitchFamily="34" charset="0"/>
                <a:ea typeface="Cambria" pitchFamily="34" charset="-122"/>
                <a:cs typeface="Cambria" pitchFamily="34" charset="-120"/>
              </a:rPr>
              <a:t>Is movement time just sampling time again?</a:t>
            </a:r>
            <a:endParaRPr lang="en-US" sz="2500" dirty="0"/>
          </a:p>
        </p:txBody>
      </p:sp>
      <p:sp>
        <p:nvSpPr>
          <p:cNvPr id="3" name="Shape 1"/>
          <p:cNvSpPr/>
          <p:nvPr/>
        </p:nvSpPr>
        <p:spPr>
          <a:xfrm>
            <a:off x="10149840" y="365760"/>
            <a:ext cx="1536192" cy="475488"/>
          </a:xfrm>
          <a:prstGeom prst="roundRect">
            <a:avLst>
              <a:gd name="adj" fmla="val 19231"/>
            </a:avLst>
          </a:prstGeom>
          <a:solidFill>
            <a:srgbClr val="EEF3FC"/>
          </a:solidFill>
          <a:ln/>
        </p:spPr>
      </p:sp>
      <p:sp>
        <p:nvSpPr>
          <p:cNvPr id="4" name="Text 2"/>
          <p:cNvSpPr/>
          <p:nvPr/>
        </p:nvSpPr>
        <p:spPr>
          <a:xfrm>
            <a:off x="10149840" y="365760"/>
            <a:ext cx="1536192" cy="475488"/>
          </a:xfrm>
          <a:prstGeom prst="rect">
            <a:avLst/>
          </a:prstGeom>
          <a:noFill/>
          <a:ln/>
        </p:spPr>
        <p:txBody>
          <a:bodyPr wrap="square" rtlCol="0" anchor="ctr"/>
          <a:lstStyle/>
          <a:p>
            <a:pPr algn="ctr" indent="0" marL="0">
              <a:buNone/>
            </a:pPr>
            <a:r>
              <a:rPr lang="en-US" sz="1100" b="1" dirty="0">
                <a:solidFill>
                  <a:srgbClr val="3A4A7A"/>
                </a:solidFill>
                <a:latin typeface="Calibri" pitchFamily="34" charset="0"/>
                <a:ea typeface="Calibri" pitchFamily="34" charset="-122"/>
                <a:cs typeface="Calibri" pitchFamily="34" charset="-120"/>
              </a:rPr>
              <a:t>ANALYSIS · confound</a:t>
            </a:r>
            <a:endParaRPr lang="en-US" sz="1100" dirty="0"/>
          </a:p>
        </p:txBody>
      </p:sp>
      <p:sp>
        <p:nvSpPr>
          <p:cNvPr id="5" name="Text 3"/>
          <p:cNvSpPr/>
          <p:nvPr/>
        </p:nvSpPr>
        <p:spPr>
          <a:xfrm>
            <a:off x="11612880" y="6455664"/>
            <a:ext cx="457200" cy="274320"/>
          </a:xfrm>
          <a:prstGeom prst="rect">
            <a:avLst/>
          </a:prstGeom>
          <a:noFill/>
          <a:ln/>
        </p:spPr>
        <p:txBody>
          <a:bodyPr wrap="square" rtlCol="0" anchor="ctr"/>
          <a:lstStyle/>
          <a:p>
            <a:pPr algn="r" indent="0" marL="0">
              <a:buNone/>
            </a:pPr>
            <a:r>
              <a:rPr lang="en-US" sz="1000" dirty="0">
                <a:solidFill>
                  <a:srgbClr val="8A93B2"/>
                </a:solidFill>
                <a:latin typeface="Calibri" pitchFamily="34" charset="0"/>
                <a:ea typeface="Calibri" pitchFamily="34" charset="-122"/>
                <a:cs typeface="Calibri" pitchFamily="34" charset="-120"/>
              </a:rPr>
              <a:t>11</a:t>
            </a:r>
            <a:endParaRPr lang="en-US" sz="1000" dirty="0"/>
          </a:p>
        </p:txBody>
      </p:sp>
      <p:pic>
        <p:nvPicPr>
          <p:cNvPr id="6" name="Image 0" descr="/sessions/bold-sleepy-planck/mnt/Fast &amp; Slow/sampling_vs_movement_time.png">    </p:cNvPr>
          <p:cNvPicPr>
            <a:picLocks noChangeAspect="1"/>
          </p:cNvPicPr>
          <p:nvPr/>
        </p:nvPicPr>
        <p:blipFill>
          <a:blip r:embed="rId1"/>
          <a:stretch>
            <a:fillRect/>
          </a:stretch>
        </p:blipFill>
        <p:spPr>
          <a:xfrm>
            <a:off x="1810649" y="1417320"/>
            <a:ext cx="8540222" cy="2697480"/>
          </a:xfrm>
          <a:prstGeom prst="rect">
            <a:avLst/>
          </a:prstGeom>
        </p:spPr>
      </p:pic>
      <p:pic>
        <p:nvPicPr>
          <p:cNvPr id="7" name="Image 1" descr="/sessions/bold-sleepy-planck/mnt/Fast &amp; Slow/mt_vs_sampling_time_binned.png">    </p:cNvPr>
          <p:cNvPicPr>
            <a:picLocks noChangeAspect="1"/>
          </p:cNvPicPr>
          <p:nvPr/>
        </p:nvPicPr>
        <p:blipFill>
          <a:blip r:embed="rId2"/>
          <a:stretch>
            <a:fillRect/>
          </a:stretch>
        </p:blipFill>
        <p:spPr>
          <a:xfrm>
            <a:off x="4647164" y="4160520"/>
            <a:ext cx="2867193" cy="1783080"/>
          </a:xfrm>
          <a:prstGeom prst="rect">
            <a:avLst/>
          </a:prstGeom>
        </p:spPr>
      </p:pic>
      <p:sp>
        <p:nvSpPr>
          <p:cNvPr id="8" name="Shape 4"/>
          <p:cNvSpPr/>
          <p:nvPr/>
        </p:nvSpPr>
        <p:spPr>
          <a:xfrm>
            <a:off x="640080" y="6053328"/>
            <a:ext cx="10881360" cy="566928"/>
          </a:xfrm>
          <a:prstGeom prst="roundRect">
            <a:avLst>
              <a:gd name="adj" fmla="val 14516"/>
            </a:avLst>
          </a:prstGeom>
          <a:solidFill>
            <a:srgbClr val="3A4A7A"/>
          </a:solidFill>
          <a:ln/>
        </p:spPr>
      </p:sp>
      <p:sp>
        <p:nvSpPr>
          <p:cNvPr id="9" name="Text 5"/>
          <p:cNvSpPr/>
          <p:nvPr/>
        </p:nvSpPr>
        <p:spPr>
          <a:xfrm>
            <a:off x="868680" y="6053328"/>
            <a:ext cx="10424160" cy="566928"/>
          </a:xfrm>
          <a:prstGeom prst="rect">
            <a:avLst/>
          </a:prstGeom>
          <a:noFill/>
          <a:ln/>
        </p:spPr>
        <p:txBody>
          <a:bodyPr wrap="square" rtlCol="0" anchor="ctr"/>
          <a:lstStyle/>
          <a:p>
            <a:pPr algn="ctr" indent="0" marL="0">
              <a:buNone/>
            </a:pPr>
            <a:pPr algn="ctr" indent="0" marL="0">
              <a:buNone/>
            </a:pPr>
            <a:r>
              <a:rPr lang="en-US" sz="1400" b="1" dirty="0">
                <a:solidFill>
                  <a:srgbClr val="FFFFFF"/>
                </a:solidFill>
                <a:latin typeface="Calibri" pitchFamily="34" charset="0"/>
                <a:ea typeface="Calibri" pitchFamily="34" charset="-122"/>
                <a:cs typeface="Calibri" pitchFamily="34" charset="-120"/>
              </a:rPr>
              <a:t>Weak, difficulty-specific coupling → movement time carries its own information (r≈−0.13 hard, ~0 easy)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9418320" cy="822960"/>
          </a:xfrm>
          <a:prstGeom prst="rect">
            <a:avLst/>
          </a:prstGeom>
          <a:noFill/>
          <a:ln/>
        </p:spPr>
        <p:txBody>
          <a:bodyPr wrap="square" rtlCol="0" anchor="ctr"/>
          <a:lstStyle/>
          <a:p>
            <a:pPr algn="l" indent="0" marL="0">
              <a:buNone/>
            </a:pPr>
            <a:r>
              <a:rPr lang="en-US" sz="2500" b="1" dirty="0">
                <a:solidFill>
                  <a:srgbClr val="1E2761"/>
                </a:solidFill>
                <a:latin typeface="Cambria" pitchFamily="34" charset="0"/>
                <a:ea typeface="Cambria" pitchFamily="34" charset="-122"/>
                <a:cs typeface="Cambria" pitchFamily="34" charset="-120"/>
              </a:rPr>
              <a:t>Signature 3 · History — a surprising mistake slows the next move</a:t>
            </a:r>
            <a:endParaRPr lang="en-US" sz="2500" dirty="0"/>
          </a:p>
        </p:txBody>
      </p:sp>
      <p:sp>
        <p:nvSpPr>
          <p:cNvPr id="3" name="Shape 1"/>
          <p:cNvSpPr/>
          <p:nvPr/>
        </p:nvSpPr>
        <p:spPr>
          <a:xfrm>
            <a:off x="10149840" y="365760"/>
            <a:ext cx="1536192" cy="475488"/>
          </a:xfrm>
          <a:prstGeom prst="roundRect">
            <a:avLst>
              <a:gd name="adj" fmla="val 19231"/>
            </a:avLst>
          </a:prstGeom>
          <a:solidFill>
            <a:srgbClr val="EEF3FC"/>
          </a:solidFill>
          <a:ln/>
        </p:spPr>
      </p:sp>
      <p:sp>
        <p:nvSpPr>
          <p:cNvPr id="4" name="Text 2"/>
          <p:cNvSpPr/>
          <p:nvPr/>
        </p:nvSpPr>
        <p:spPr>
          <a:xfrm>
            <a:off x="10149840" y="365760"/>
            <a:ext cx="1536192" cy="475488"/>
          </a:xfrm>
          <a:prstGeom prst="rect">
            <a:avLst/>
          </a:prstGeom>
          <a:noFill/>
          <a:ln/>
        </p:spPr>
        <p:txBody>
          <a:bodyPr wrap="square" rtlCol="0" anchor="ctr"/>
          <a:lstStyle/>
          <a:p>
            <a:pPr algn="ctr" indent="0" marL="0">
              <a:buNone/>
            </a:pPr>
            <a:r>
              <a:rPr lang="en-US" sz="1100" b="1" dirty="0">
                <a:solidFill>
                  <a:srgbClr val="3A4A7A"/>
                </a:solidFill>
                <a:latin typeface="Calibri" pitchFamily="34" charset="0"/>
                <a:ea typeface="Calibri" pitchFamily="34" charset="-122"/>
                <a:cs typeface="Calibri" pitchFamily="34" charset="-120"/>
              </a:rPr>
              <a:t>SIGNATURE 3/3</a:t>
            </a:r>
            <a:endParaRPr lang="en-US" sz="1100" dirty="0"/>
          </a:p>
        </p:txBody>
      </p:sp>
      <p:sp>
        <p:nvSpPr>
          <p:cNvPr id="5" name="Text 3"/>
          <p:cNvSpPr/>
          <p:nvPr/>
        </p:nvSpPr>
        <p:spPr>
          <a:xfrm>
            <a:off x="11612880" y="6455664"/>
            <a:ext cx="457200" cy="274320"/>
          </a:xfrm>
          <a:prstGeom prst="rect">
            <a:avLst/>
          </a:prstGeom>
          <a:noFill/>
          <a:ln/>
        </p:spPr>
        <p:txBody>
          <a:bodyPr wrap="square" rtlCol="0" anchor="ctr"/>
          <a:lstStyle/>
          <a:p>
            <a:pPr algn="r" indent="0" marL="0">
              <a:buNone/>
            </a:pPr>
            <a:r>
              <a:rPr lang="en-US" sz="1000" dirty="0">
                <a:solidFill>
                  <a:srgbClr val="8A93B2"/>
                </a:solidFill>
                <a:latin typeface="Calibri" pitchFamily="34" charset="0"/>
                <a:ea typeface="Calibri" pitchFamily="34" charset="-122"/>
                <a:cs typeface="Calibri" pitchFamily="34" charset="-120"/>
              </a:rPr>
              <a:t>12</a:t>
            </a:r>
            <a:endParaRPr lang="en-US" sz="1000" dirty="0"/>
          </a:p>
        </p:txBody>
      </p:sp>
      <p:pic>
        <p:nvPicPr>
          <p:cNvPr id="6" name="Image 0" descr="/sessions/bold-sleepy-planck/mnt/Fast &amp; Slow/mt_by_prev_outcome.png">    </p:cNvPr>
          <p:cNvPicPr>
            <a:picLocks noChangeAspect="1"/>
          </p:cNvPicPr>
          <p:nvPr/>
        </p:nvPicPr>
        <p:blipFill>
          <a:blip r:embed="rId1"/>
          <a:stretch>
            <a:fillRect/>
          </a:stretch>
        </p:blipFill>
        <p:spPr>
          <a:xfrm>
            <a:off x="640080" y="1463142"/>
            <a:ext cx="5394960" cy="3017315"/>
          </a:xfrm>
          <a:prstGeom prst="rect">
            <a:avLst/>
          </a:prstGeom>
        </p:spPr>
      </p:pic>
      <p:pic>
        <p:nvPicPr>
          <p:cNvPr id="7" name="Image 1" descr="/sessions/bold-sleepy-planck/mnt/Fast &amp; Slow/mt_prev_difficulty_outcome.png">    </p:cNvPr>
          <p:cNvPicPr>
            <a:picLocks noChangeAspect="1"/>
          </p:cNvPicPr>
          <p:nvPr/>
        </p:nvPicPr>
        <p:blipFill>
          <a:blip r:embed="rId2"/>
          <a:stretch>
            <a:fillRect/>
          </a:stretch>
        </p:blipFill>
        <p:spPr>
          <a:xfrm>
            <a:off x="6172200" y="2248689"/>
            <a:ext cx="5532120" cy="1491942"/>
          </a:xfrm>
          <a:prstGeom prst="rect">
            <a:avLst/>
          </a:prstGeom>
        </p:spPr>
      </p:pic>
      <p:sp>
        <p:nvSpPr>
          <p:cNvPr id="8" name="Text 4"/>
          <p:cNvSpPr/>
          <p:nvPr/>
        </p:nvSpPr>
        <p:spPr>
          <a:xfrm>
            <a:off x="640080" y="4572000"/>
            <a:ext cx="5394960" cy="292608"/>
          </a:xfrm>
          <a:prstGeom prst="rect">
            <a:avLst/>
          </a:prstGeom>
          <a:noFill/>
          <a:ln/>
        </p:spPr>
        <p:txBody>
          <a:bodyPr wrap="square" rtlCol="0" anchor="ctr"/>
          <a:lstStyle/>
          <a:p>
            <a:pPr algn="ctr" indent="0" marL="0">
              <a:buNone/>
            </a:pPr>
            <a:r>
              <a:rPr lang="en-US" sz="1100" i="1" dirty="0">
                <a:solidFill>
                  <a:srgbClr val="8A93B2"/>
                </a:solidFill>
                <a:latin typeface="Calibri" pitchFamily="34" charset="0"/>
                <a:ea typeface="Calibri" pitchFamily="34" charset="-122"/>
                <a:cs typeface="Calibri" pitchFamily="34" charset="-120"/>
              </a:rPr>
              <a:t>split by previous outcome</a:t>
            </a:r>
            <a:endParaRPr lang="en-US" sz="1100" dirty="0"/>
          </a:p>
        </p:txBody>
      </p:sp>
      <p:sp>
        <p:nvSpPr>
          <p:cNvPr id="9" name="Text 5"/>
          <p:cNvSpPr/>
          <p:nvPr/>
        </p:nvSpPr>
        <p:spPr>
          <a:xfrm>
            <a:off x="6172200" y="3886200"/>
            <a:ext cx="5532120" cy="292608"/>
          </a:xfrm>
          <a:prstGeom prst="rect">
            <a:avLst/>
          </a:prstGeom>
          <a:noFill/>
          <a:ln/>
        </p:spPr>
        <p:txBody>
          <a:bodyPr wrap="square" rtlCol="0" anchor="ctr"/>
          <a:lstStyle/>
          <a:p>
            <a:pPr algn="ctr" indent="0" marL="0">
              <a:buNone/>
            </a:pPr>
            <a:r>
              <a:rPr lang="en-US" sz="1100" i="1" dirty="0">
                <a:solidFill>
                  <a:srgbClr val="8A93B2"/>
                </a:solidFill>
                <a:latin typeface="Calibri" pitchFamily="34" charset="0"/>
                <a:ea typeface="Calibri" pitchFamily="34" charset="-122"/>
                <a:cs typeface="Calibri" pitchFamily="34" charset="-120"/>
              </a:rPr>
              <a:t>…broken down by previous difficulty</a:t>
            </a:r>
            <a:endParaRPr lang="en-US" sz="1100" dirty="0"/>
          </a:p>
        </p:txBody>
      </p:sp>
      <p:sp>
        <p:nvSpPr>
          <p:cNvPr id="10" name="Shape 6"/>
          <p:cNvSpPr/>
          <p:nvPr/>
        </p:nvSpPr>
        <p:spPr>
          <a:xfrm>
            <a:off x="640080" y="6053328"/>
            <a:ext cx="10881360" cy="566928"/>
          </a:xfrm>
          <a:prstGeom prst="roundRect">
            <a:avLst>
              <a:gd name="adj" fmla="val 14516"/>
            </a:avLst>
          </a:prstGeom>
          <a:solidFill>
            <a:srgbClr val="1E2761"/>
          </a:solidFill>
          <a:ln/>
        </p:spPr>
      </p:sp>
      <p:sp>
        <p:nvSpPr>
          <p:cNvPr id="11" name="Text 7"/>
          <p:cNvSpPr/>
          <p:nvPr/>
        </p:nvSpPr>
        <p:spPr>
          <a:xfrm>
            <a:off x="868680" y="6053328"/>
            <a:ext cx="10424160" cy="56692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a:t>
            </a:r>
            <a:pPr algn="ctr" indent="0" marL="0">
              <a:buNone/>
            </a:pPr>
            <a:r>
              <a:rPr lang="en-US" sz="1400" b="1" dirty="0">
                <a:solidFill>
                  <a:srgbClr val="FFFFFF"/>
                </a:solidFill>
                <a:latin typeface="Calibri" pitchFamily="34" charset="0"/>
                <a:ea typeface="Calibri" pitchFamily="34" charset="-122"/>
                <a:cs typeface="Calibri" pitchFamily="34" charset="-120"/>
              </a:rPr>
              <a:t>Confidence-scaled updating: the more surprising the mistake, the bigger the next hesitation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9418320" cy="822960"/>
          </a:xfrm>
          <a:prstGeom prst="rect">
            <a:avLst/>
          </a:prstGeom>
          <a:noFill/>
          <a:ln/>
        </p:spPr>
        <p:txBody>
          <a:bodyPr wrap="square" rtlCol="0" anchor="ctr"/>
          <a:lstStyle/>
          <a:p>
            <a:pPr algn="l" indent="0" marL="0">
              <a:buNone/>
            </a:pPr>
            <a:r>
              <a:rPr lang="en-US" sz="2500" b="1" dirty="0">
                <a:solidFill>
                  <a:srgbClr val="1E2761"/>
                </a:solidFill>
                <a:latin typeface="Cambria" pitchFamily="34" charset="0"/>
                <a:ea typeface="Cambria" pitchFamily="34" charset="-122"/>
                <a:cs typeface="Cambria" pitchFamily="34" charset="-120"/>
              </a:rPr>
              <a:t>The hesitation builds over a losing streak</a:t>
            </a:r>
            <a:endParaRPr lang="en-US" sz="2500" dirty="0"/>
          </a:p>
        </p:txBody>
      </p:sp>
      <p:sp>
        <p:nvSpPr>
          <p:cNvPr id="3" name="Shape 1"/>
          <p:cNvSpPr/>
          <p:nvPr/>
        </p:nvSpPr>
        <p:spPr>
          <a:xfrm>
            <a:off x="10149840" y="365760"/>
            <a:ext cx="1536192" cy="475488"/>
          </a:xfrm>
          <a:prstGeom prst="roundRect">
            <a:avLst>
              <a:gd name="adj" fmla="val 19231"/>
            </a:avLst>
          </a:prstGeom>
          <a:solidFill>
            <a:srgbClr val="EEF3FC"/>
          </a:solidFill>
          <a:ln/>
        </p:spPr>
      </p:sp>
      <p:sp>
        <p:nvSpPr>
          <p:cNvPr id="4" name="Text 2"/>
          <p:cNvSpPr/>
          <p:nvPr/>
        </p:nvSpPr>
        <p:spPr>
          <a:xfrm>
            <a:off x="10149840" y="365760"/>
            <a:ext cx="1536192" cy="475488"/>
          </a:xfrm>
          <a:prstGeom prst="rect">
            <a:avLst/>
          </a:prstGeom>
          <a:noFill/>
          <a:ln/>
        </p:spPr>
        <p:txBody>
          <a:bodyPr wrap="square" rtlCol="0" anchor="ctr"/>
          <a:lstStyle/>
          <a:p>
            <a:pPr algn="ctr" indent="0" marL="0">
              <a:buNone/>
            </a:pPr>
            <a:r>
              <a:rPr lang="en-US" sz="1100" b="1" dirty="0">
                <a:solidFill>
                  <a:srgbClr val="3A4A7A"/>
                </a:solidFill>
                <a:latin typeface="Calibri" pitchFamily="34" charset="0"/>
                <a:ea typeface="Calibri" pitchFamily="34" charset="-122"/>
                <a:cs typeface="Calibri" pitchFamily="34" charset="-120"/>
              </a:rPr>
              <a:t>ANALYSIS · history</a:t>
            </a:r>
            <a:endParaRPr lang="en-US" sz="1100" dirty="0"/>
          </a:p>
        </p:txBody>
      </p:sp>
      <p:sp>
        <p:nvSpPr>
          <p:cNvPr id="5" name="Text 3"/>
          <p:cNvSpPr/>
          <p:nvPr/>
        </p:nvSpPr>
        <p:spPr>
          <a:xfrm>
            <a:off x="11612880" y="6455664"/>
            <a:ext cx="457200" cy="274320"/>
          </a:xfrm>
          <a:prstGeom prst="rect">
            <a:avLst/>
          </a:prstGeom>
          <a:noFill/>
          <a:ln/>
        </p:spPr>
        <p:txBody>
          <a:bodyPr wrap="square" rtlCol="0" anchor="ctr"/>
          <a:lstStyle/>
          <a:p>
            <a:pPr algn="r" indent="0" marL="0">
              <a:buNone/>
            </a:pPr>
            <a:r>
              <a:rPr lang="en-US" sz="1000" dirty="0">
                <a:solidFill>
                  <a:srgbClr val="8A93B2"/>
                </a:solidFill>
                <a:latin typeface="Calibri" pitchFamily="34" charset="0"/>
                <a:ea typeface="Calibri" pitchFamily="34" charset="-122"/>
                <a:cs typeface="Calibri" pitchFamily="34" charset="-120"/>
              </a:rPr>
              <a:t>13</a:t>
            </a:r>
            <a:endParaRPr lang="en-US" sz="1000" dirty="0"/>
          </a:p>
        </p:txBody>
      </p:sp>
      <p:pic>
        <p:nvPicPr>
          <p:cNvPr id="6" name="Image 0" descr="/sessions/bold-sleepy-planck/mnt/Fast &amp; Slow/mt_streak.png">    </p:cNvPr>
          <p:cNvPicPr>
            <a:picLocks noChangeAspect="1"/>
          </p:cNvPicPr>
          <p:nvPr/>
        </p:nvPicPr>
        <p:blipFill>
          <a:blip r:embed="rId1"/>
          <a:stretch>
            <a:fillRect/>
          </a:stretch>
        </p:blipFill>
        <p:spPr>
          <a:xfrm>
            <a:off x="1763740" y="1417320"/>
            <a:ext cx="8634039" cy="4297680"/>
          </a:xfrm>
          <a:prstGeom prst="rect">
            <a:avLst/>
          </a:prstGeom>
        </p:spPr>
      </p:pic>
      <p:sp>
        <p:nvSpPr>
          <p:cNvPr id="7" name="Shape 4"/>
          <p:cNvSpPr/>
          <p:nvPr/>
        </p:nvSpPr>
        <p:spPr>
          <a:xfrm>
            <a:off x="640080" y="6053328"/>
            <a:ext cx="10881360" cy="566928"/>
          </a:xfrm>
          <a:prstGeom prst="roundRect">
            <a:avLst>
              <a:gd name="adj" fmla="val 14516"/>
            </a:avLst>
          </a:prstGeom>
          <a:solidFill>
            <a:srgbClr val="3A4A7A"/>
          </a:solidFill>
          <a:ln/>
        </p:spPr>
      </p:sp>
      <p:sp>
        <p:nvSpPr>
          <p:cNvPr id="8" name="Text 5"/>
          <p:cNvSpPr/>
          <p:nvPr/>
        </p:nvSpPr>
        <p:spPr>
          <a:xfrm>
            <a:off x="868680" y="6053328"/>
            <a:ext cx="10424160" cy="566928"/>
          </a:xfrm>
          <a:prstGeom prst="rect">
            <a:avLst/>
          </a:prstGeom>
          <a:noFill/>
          <a:ln/>
        </p:spPr>
        <p:txBody>
          <a:bodyPr wrap="square" rtlCol="0" anchor="ctr"/>
          <a:lstStyle/>
          <a:p>
            <a:pPr algn="ctr" indent="0" marL="0">
              <a:buNone/>
            </a:pPr>
            <a:pPr algn="ctr" indent="0" marL="0">
              <a:buNone/>
            </a:pPr>
            <a:r>
              <a:rPr lang="en-US" sz="1400" b="1" dirty="0">
                <a:solidFill>
                  <a:srgbClr val="FFFFFF"/>
                </a:solidFill>
                <a:latin typeface="Calibri" pitchFamily="34" charset="0"/>
                <a:ea typeface="Calibri" pitchFamily="34" charset="-122"/>
                <a:cs typeface="Calibri" pitchFamily="34" charset="-120"/>
              </a:rPr>
              <a:t>After several errors in a row the animal slows down — the low-confidence state accumulates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9418320" cy="822960"/>
          </a:xfrm>
          <a:prstGeom prst="rect">
            <a:avLst/>
          </a:prstGeom>
          <a:noFill/>
          <a:ln/>
        </p:spPr>
        <p:txBody>
          <a:bodyPr wrap="square" rtlCol="0" anchor="ctr"/>
          <a:lstStyle/>
          <a:p>
            <a:pPr algn="l" indent="0" marL="0">
              <a:buNone/>
            </a:pPr>
            <a:r>
              <a:rPr lang="en-US" sz="2500" b="1" dirty="0">
                <a:solidFill>
                  <a:srgbClr val="1E2761"/>
                </a:solidFill>
                <a:latin typeface="Cambria" pitchFamily="34" charset="0"/>
                <a:ea typeface="Cambria" pitchFamily="34" charset="-122"/>
                <a:cs typeface="Cambria" pitchFamily="34" charset="-120"/>
              </a:rPr>
              <a:t>One thing to rule out: is the mouse just disengaged?</a:t>
            </a:r>
            <a:endParaRPr lang="en-US" sz="2500" dirty="0"/>
          </a:p>
        </p:txBody>
      </p:sp>
      <p:sp>
        <p:nvSpPr>
          <p:cNvPr id="3" name="Shape 1"/>
          <p:cNvSpPr/>
          <p:nvPr/>
        </p:nvSpPr>
        <p:spPr>
          <a:xfrm>
            <a:off x="10149840" y="365760"/>
            <a:ext cx="1536192" cy="475488"/>
          </a:xfrm>
          <a:prstGeom prst="roundRect">
            <a:avLst>
              <a:gd name="adj" fmla="val 19231"/>
            </a:avLst>
          </a:prstGeom>
          <a:solidFill>
            <a:srgbClr val="EEF3FC"/>
          </a:solidFill>
          <a:ln/>
        </p:spPr>
      </p:sp>
      <p:sp>
        <p:nvSpPr>
          <p:cNvPr id="4" name="Text 2"/>
          <p:cNvSpPr/>
          <p:nvPr/>
        </p:nvSpPr>
        <p:spPr>
          <a:xfrm>
            <a:off x="10149840" y="365760"/>
            <a:ext cx="1536192" cy="475488"/>
          </a:xfrm>
          <a:prstGeom prst="rect">
            <a:avLst/>
          </a:prstGeom>
          <a:noFill/>
          <a:ln/>
        </p:spPr>
        <p:txBody>
          <a:bodyPr wrap="square" rtlCol="0" anchor="ctr"/>
          <a:lstStyle/>
          <a:p>
            <a:pPr algn="ctr" indent="0" marL="0">
              <a:buNone/>
            </a:pPr>
            <a:r>
              <a:rPr lang="en-US" sz="1100" b="1" dirty="0">
                <a:solidFill>
                  <a:srgbClr val="3A4A7A"/>
                </a:solidFill>
                <a:latin typeface="Calibri" pitchFamily="34" charset="0"/>
                <a:ea typeface="Calibri" pitchFamily="34" charset="-122"/>
                <a:cs typeface="Calibri" pitchFamily="34" charset="-120"/>
              </a:rPr>
              <a:t>ANALYSIS · confound</a:t>
            </a:r>
            <a:endParaRPr lang="en-US" sz="1100" dirty="0"/>
          </a:p>
        </p:txBody>
      </p:sp>
      <p:sp>
        <p:nvSpPr>
          <p:cNvPr id="5" name="Text 3"/>
          <p:cNvSpPr/>
          <p:nvPr/>
        </p:nvSpPr>
        <p:spPr>
          <a:xfrm>
            <a:off x="11612880" y="6455664"/>
            <a:ext cx="457200" cy="274320"/>
          </a:xfrm>
          <a:prstGeom prst="rect">
            <a:avLst/>
          </a:prstGeom>
          <a:noFill/>
          <a:ln/>
        </p:spPr>
        <p:txBody>
          <a:bodyPr wrap="square" rtlCol="0" anchor="ctr"/>
          <a:lstStyle/>
          <a:p>
            <a:pPr algn="r" indent="0" marL="0">
              <a:buNone/>
            </a:pPr>
            <a:r>
              <a:rPr lang="en-US" sz="1000" dirty="0">
                <a:solidFill>
                  <a:srgbClr val="8A93B2"/>
                </a:solidFill>
                <a:latin typeface="Calibri" pitchFamily="34" charset="0"/>
                <a:ea typeface="Calibri" pitchFamily="34" charset="-122"/>
                <a:cs typeface="Calibri" pitchFamily="34" charset="-120"/>
              </a:rPr>
              <a:t>14</a:t>
            </a:r>
            <a:endParaRPr lang="en-US" sz="1000" dirty="0"/>
          </a:p>
        </p:txBody>
      </p:sp>
      <p:pic>
        <p:nvPicPr>
          <p:cNvPr id="6" name="Image 0" descr="/sessions/bold-sleepy-planck/mnt/Fast &amp; Slow/mt_vs_reward_rate.png">    </p:cNvPr>
          <p:cNvPicPr>
            <a:picLocks noChangeAspect="1"/>
          </p:cNvPicPr>
          <p:nvPr/>
        </p:nvPicPr>
        <p:blipFill>
          <a:blip r:embed="rId1"/>
          <a:stretch>
            <a:fillRect/>
          </a:stretch>
        </p:blipFill>
        <p:spPr>
          <a:xfrm>
            <a:off x="685800" y="1503827"/>
            <a:ext cx="5394960" cy="3804626"/>
          </a:xfrm>
          <a:prstGeom prst="rect">
            <a:avLst/>
          </a:prstGeom>
        </p:spPr>
      </p:pic>
      <p:pic>
        <p:nvPicPr>
          <p:cNvPr id="7" name="Image 1" descr="/sessions/bold-sleepy-planck/mnt/Fast &amp; Slow/accuracy_vs_reward_rate.png">    </p:cNvPr>
          <p:cNvPicPr>
            <a:picLocks noChangeAspect="1"/>
          </p:cNvPicPr>
          <p:nvPr/>
        </p:nvPicPr>
        <p:blipFill>
          <a:blip r:embed="rId2"/>
          <a:stretch>
            <a:fillRect/>
          </a:stretch>
        </p:blipFill>
        <p:spPr>
          <a:xfrm>
            <a:off x="6309360" y="1510838"/>
            <a:ext cx="5212080" cy="3790604"/>
          </a:xfrm>
          <a:prstGeom prst="rect">
            <a:avLst/>
          </a:prstGeom>
        </p:spPr>
      </p:pic>
      <p:sp>
        <p:nvSpPr>
          <p:cNvPr id="8" name="Text 4"/>
          <p:cNvSpPr/>
          <p:nvPr/>
        </p:nvSpPr>
        <p:spPr>
          <a:xfrm>
            <a:off x="685800" y="5486400"/>
            <a:ext cx="5394960" cy="292608"/>
          </a:xfrm>
          <a:prstGeom prst="rect">
            <a:avLst/>
          </a:prstGeom>
          <a:noFill/>
          <a:ln/>
        </p:spPr>
        <p:txBody>
          <a:bodyPr wrap="square" rtlCol="0" anchor="ctr"/>
          <a:lstStyle/>
          <a:p>
            <a:pPr algn="ctr" indent="0" marL="0">
              <a:buNone/>
            </a:pPr>
            <a:r>
              <a:rPr lang="en-US" sz="1100" i="1" dirty="0">
                <a:solidFill>
                  <a:srgbClr val="8A93B2"/>
                </a:solidFill>
                <a:latin typeface="Calibri" pitchFamily="34" charset="0"/>
                <a:ea typeface="Calibri" pitchFamily="34" charset="-122"/>
                <a:cs typeface="Calibri" pitchFamily="34" charset="-120"/>
              </a:rPr>
              <a:t>recent reward low → slower</a:t>
            </a:r>
            <a:endParaRPr lang="en-US" sz="1100" dirty="0"/>
          </a:p>
        </p:txBody>
      </p:sp>
      <p:sp>
        <p:nvSpPr>
          <p:cNvPr id="9" name="Text 5"/>
          <p:cNvSpPr/>
          <p:nvPr/>
        </p:nvSpPr>
        <p:spPr>
          <a:xfrm>
            <a:off x="6309360" y="5486400"/>
            <a:ext cx="5212080" cy="292608"/>
          </a:xfrm>
          <a:prstGeom prst="rect">
            <a:avLst/>
          </a:prstGeom>
          <a:noFill/>
          <a:ln/>
        </p:spPr>
        <p:txBody>
          <a:bodyPr wrap="square" rtlCol="0" anchor="ctr"/>
          <a:lstStyle/>
          <a:p>
            <a:pPr algn="ctr" indent="0" marL="0">
              <a:buNone/>
            </a:pPr>
            <a:r>
              <a:rPr lang="en-US" sz="1100" i="1" dirty="0">
                <a:solidFill>
                  <a:srgbClr val="8A93B2"/>
                </a:solidFill>
                <a:latin typeface="Calibri" pitchFamily="34" charset="0"/>
                <a:ea typeface="Calibri" pitchFamily="34" charset="-122"/>
                <a:cs typeface="Calibri" pitchFamily="34" charset="-120"/>
              </a:rPr>
              <a:t>recent reward low → less accurate</a:t>
            </a:r>
            <a:endParaRPr lang="en-US" sz="1100" dirty="0"/>
          </a:p>
        </p:txBody>
      </p:sp>
      <p:sp>
        <p:nvSpPr>
          <p:cNvPr id="10" name="Shape 6"/>
          <p:cNvSpPr/>
          <p:nvPr/>
        </p:nvSpPr>
        <p:spPr>
          <a:xfrm>
            <a:off x="640080" y="6053328"/>
            <a:ext cx="10881360" cy="566928"/>
          </a:xfrm>
          <a:prstGeom prst="roundRect">
            <a:avLst>
              <a:gd name="adj" fmla="val 14516"/>
            </a:avLst>
          </a:prstGeom>
          <a:solidFill>
            <a:srgbClr val="B85042"/>
          </a:solidFill>
          <a:ln/>
        </p:spPr>
      </p:sp>
      <p:sp>
        <p:nvSpPr>
          <p:cNvPr id="11" name="Text 7"/>
          <p:cNvSpPr/>
          <p:nvPr/>
        </p:nvSpPr>
        <p:spPr>
          <a:xfrm>
            <a:off x="868680" y="6053328"/>
            <a:ext cx="10424160" cy="56692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a:t>
            </a:r>
            <a:pPr algn="ctr" indent="0" marL="0">
              <a:buNone/>
            </a:pPr>
            <a:r>
              <a:rPr lang="en-US" sz="1400" b="1" dirty="0">
                <a:solidFill>
                  <a:srgbClr val="FFFFFF"/>
                </a:solidFill>
                <a:latin typeface="Calibri" pitchFamily="34" charset="0"/>
                <a:ea typeface="Calibri" pitchFamily="34" charset="-122"/>
                <a:cs typeface="Calibri" pitchFamily="34" charset="-120"/>
              </a:rPr>
              <a:t>Local reward rate = an engagement proxy: when it's low the mouse is slow AND wrong — separate this from confidence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9418320" cy="822960"/>
          </a:xfrm>
          <a:prstGeom prst="rect">
            <a:avLst/>
          </a:prstGeom>
          <a:noFill/>
          <a:ln/>
        </p:spPr>
        <p:txBody>
          <a:bodyPr wrap="square" rtlCol="0" anchor="ctr"/>
          <a:lstStyle/>
          <a:p>
            <a:pPr algn="l" indent="0" marL="0">
              <a:buNone/>
            </a:pPr>
            <a:r>
              <a:rPr lang="en-US" sz="2500" b="1" dirty="0">
                <a:solidFill>
                  <a:srgbClr val="1E2761"/>
                </a:solidFill>
                <a:latin typeface="Cambria" pitchFamily="34" charset="0"/>
                <a:ea typeface="Cambria" pitchFamily="34" charset="-122"/>
                <a:cs typeface="Cambria" pitchFamily="34" charset="-120"/>
              </a:rPr>
              <a:t>The checklist, all three confirmed</a:t>
            </a:r>
            <a:endParaRPr lang="en-US" sz="2500" dirty="0"/>
          </a:p>
        </p:txBody>
      </p:sp>
      <p:sp>
        <p:nvSpPr>
          <p:cNvPr id="3" name="Shape 1"/>
          <p:cNvSpPr/>
          <p:nvPr/>
        </p:nvSpPr>
        <p:spPr>
          <a:xfrm>
            <a:off x="10149840" y="365760"/>
            <a:ext cx="1536192" cy="475488"/>
          </a:xfrm>
          <a:prstGeom prst="roundRect">
            <a:avLst>
              <a:gd name="adj" fmla="val 19231"/>
            </a:avLst>
          </a:prstGeom>
          <a:solidFill>
            <a:srgbClr val="EEF3FC"/>
          </a:solidFill>
          <a:ln/>
        </p:spPr>
      </p:sp>
      <p:sp>
        <p:nvSpPr>
          <p:cNvPr id="4" name="Text 2"/>
          <p:cNvSpPr/>
          <p:nvPr/>
        </p:nvSpPr>
        <p:spPr>
          <a:xfrm>
            <a:off x="10149840" y="365760"/>
            <a:ext cx="1536192" cy="475488"/>
          </a:xfrm>
          <a:prstGeom prst="rect">
            <a:avLst/>
          </a:prstGeom>
          <a:noFill/>
          <a:ln/>
        </p:spPr>
        <p:txBody>
          <a:bodyPr wrap="square" rtlCol="0" anchor="ctr"/>
          <a:lstStyle/>
          <a:p>
            <a:pPr algn="ctr" indent="0" marL="0">
              <a:buNone/>
            </a:pPr>
            <a:r>
              <a:rPr lang="en-US" sz="1100" b="1" dirty="0">
                <a:solidFill>
                  <a:srgbClr val="3A4A7A"/>
                </a:solidFill>
                <a:latin typeface="Calibri" pitchFamily="34" charset="0"/>
                <a:ea typeface="Calibri" pitchFamily="34" charset="-122"/>
                <a:cs typeface="Calibri" pitchFamily="34" charset="-120"/>
              </a:rPr>
              <a:t>ANALYSIS · summary</a:t>
            </a:r>
            <a:endParaRPr lang="en-US" sz="1100" dirty="0"/>
          </a:p>
        </p:txBody>
      </p:sp>
      <p:sp>
        <p:nvSpPr>
          <p:cNvPr id="5" name="Text 3"/>
          <p:cNvSpPr/>
          <p:nvPr/>
        </p:nvSpPr>
        <p:spPr>
          <a:xfrm>
            <a:off x="11612880" y="6455664"/>
            <a:ext cx="457200" cy="274320"/>
          </a:xfrm>
          <a:prstGeom prst="rect">
            <a:avLst/>
          </a:prstGeom>
          <a:noFill/>
          <a:ln/>
        </p:spPr>
        <p:txBody>
          <a:bodyPr wrap="square" rtlCol="0" anchor="ctr"/>
          <a:lstStyle/>
          <a:p>
            <a:pPr algn="r" indent="0" marL="0">
              <a:buNone/>
            </a:pPr>
            <a:r>
              <a:rPr lang="en-US" sz="1000" dirty="0">
                <a:solidFill>
                  <a:srgbClr val="8A93B2"/>
                </a:solidFill>
                <a:latin typeface="Calibri" pitchFamily="34" charset="0"/>
                <a:ea typeface="Calibri" pitchFamily="34" charset="-122"/>
                <a:cs typeface="Calibri" pitchFamily="34" charset="-120"/>
              </a:rPr>
              <a:t>15</a:t>
            </a:r>
            <a:endParaRPr lang="en-US" sz="1000" dirty="0"/>
          </a:p>
        </p:txBody>
      </p:sp>
      <p:pic>
        <p:nvPicPr>
          <p:cNvPr id="6" name="Image 0" descr="/sessions/bold-sleepy-planck/mnt/Fast &amp; Slow/fig_rubric_checked.png">    </p:cNvPr>
          <p:cNvPicPr>
            <a:picLocks noChangeAspect="1"/>
          </p:cNvPicPr>
          <p:nvPr/>
        </p:nvPicPr>
        <p:blipFill>
          <a:blip r:embed="rId1"/>
          <a:stretch>
            <a:fillRect/>
          </a:stretch>
        </p:blipFill>
        <p:spPr>
          <a:xfrm>
            <a:off x="1603858" y="1371600"/>
            <a:ext cx="8953805" cy="4389120"/>
          </a:xfrm>
          <a:prstGeom prst="rect">
            <a:avLst/>
          </a:prstGeom>
        </p:spPr>
      </p:pic>
      <p:sp>
        <p:nvSpPr>
          <p:cNvPr id="7" name="Shape 4"/>
          <p:cNvSpPr/>
          <p:nvPr/>
        </p:nvSpPr>
        <p:spPr>
          <a:xfrm>
            <a:off x="640080" y="6053328"/>
            <a:ext cx="10881360" cy="566928"/>
          </a:xfrm>
          <a:prstGeom prst="roundRect">
            <a:avLst>
              <a:gd name="adj" fmla="val 14516"/>
            </a:avLst>
          </a:prstGeom>
          <a:solidFill>
            <a:srgbClr val="1E2761"/>
          </a:solidFill>
          <a:ln/>
        </p:spPr>
      </p:sp>
      <p:sp>
        <p:nvSpPr>
          <p:cNvPr id="8" name="Text 5"/>
          <p:cNvSpPr/>
          <p:nvPr/>
        </p:nvSpPr>
        <p:spPr>
          <a:xfrm>
            <a:off x="868680" y="6053328"/>
            <a:ext cx="10424160" cy="56692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a:t>
            </a:r>
            <a:pPr algn="ctr" indent="0" marL="0">
              <a:buNone/>
            </a:pPr>
            <a:r>
              <a:rPr lang="en-US" sz="1400" b="1" dirty="0">
                <a:solidFill>
                  <a:srgbClr val="FFFFFF"/>
                </a:solidFill>
                <a:latin typeface="Calibri" pitchFamily="34" charset="0"/>
                <a:ea typeface="Calibri" pitchFamily="34" charset="-122"/>
                <a:cs typeface="Calibri" pitchFamily="34" charset="-120"/>
              </a:rPr>
              <a:t>Movement time shows all three signatures — it behaves like a confidence readout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9418320" cy="822960"/>
          </a:xfrm>
          <a:prstGeom prst="rect">
            <a:avLst/>
          </a:prstGeom>
          <a:noFill/>
          <a:ln/>
        </p:spPr>
        <p:txBody>
          <a:bodyPr wrap="square" rtlCol="0" anchor="ctr"/>
          <a:lstStyle/>
          <a:p>
            <a:pPr algn="l" indent="0" marL="0">
              <a:buNone/>
            </a:pPr>
            <a:r>
              <a:rPr lang="en-US" sz="2500" b="1" dirty="0">
                <a:solidFill>
                  <a:srgbClr val="1E2761"/>
                </a:solidFill>
                <a:latin typeface="Cambria" pitchFamily="34" charset="0"/>
                <a:ea typeface="Cambria" pitchFamily="34" charset="-122"/>
                <a:cs typeface="Cambria" pitchFamily="34" charset="-120"/>
              </a:rPr>
              <a:t>Next: where does this confidence signal live in the brain?</a:t>
            </a:r>
            <a:endParaRPr lang="en-US" sz="2500" dirty="0"/>
          </a:p>
        </p:txBody>
      </p:sp>
      <p:sp>
        <p:nvSpPr>
          <p:cNvPr id="3" name="Shape 1"/>
          <p:cNvSpPr/>
          <p:nvPr/>
        </p:nvSpPr>
        <p:spPr>
          <a:xfrm>
            <a:off x="10149840" y="365760"/>
            <a:ext cx="1536192" cy="475488"/>
          </a:xfrm>
          <a:prstGeom prst="roundRect">
            <a:avLst>
              <a:gd name="adj" fmla="val 19231"/>
            </a:avLst>
          </a:prstGeom>
          <a:solidFill>
            <a:srgbClr val="EEF3FC"/>
          </a:solidFill>
          <a:ln/>
        </p:spPr>
      </p:sp>
      <p:sp>
        <p:nvSpPr>
          <p:cNvPr id="4" name="Text 2"/>
          <p:cNvSpPr/>
          <p:nvPr/>
        </p:nvSpPr>
        <p:spPr>
          <a:xfrm>
            <a:off x="10149840" y="365760"/>
            <a:ext cx="1536192" cy="475488"/>
          </a:xfrm>
          <a:prstGeom prst="rect">
            <a:avLst/>
          </a:prstGeom>
          <a:noFill/>
          <a:ln/>
        </p:spPr>
        <p:txBody>
          <a:bodyPr wrap="square" rtlCol="0" anchor="ctr"/>
          <a:lstStyle/>
          <a:p>
            <a:pPr algn="ctr" indent="0" marL="0">
              <a:buNone/>
            </a:pPr>
            <a:r>
              <a:rPr lang="en-US" sz="1100" b="1" dirty="0">
                <a:solidFill>
                  <a:srgbClr val="3A4A7A"/>
                </a:solidFill>
                <a:latin typeface="Calibri" pitchFamily="34" charset="0"/>
                <a:ea typeface="Calibri" pitchFamily="34" charset="-122"/>
                <a:cs typeface="Calibri" pitchFamily="34" charset="-120"/>
              </a:rPr>
              <a:t>NEXT STEPS</a:t>
            </a:r>
            <a:endParaRPr lang="en-US" sz="1100" dirty="0"/>
          </a:p>
        </p:txBody>
      </p:sp>
      <p:sp>
        <p:nvSpPr>
          <p:cNvPr id="5" name="Text 3"/>
          <p:cNvSpPr/>
          <p:nvPr/>
        </p:nvSpPr>
        <p:spPr>
          <a:xfrm>
            <a:off x="11612880" y="6455664"/>
            <a:ext cx="457200" cy="274320"/>
          </a:xfrm>
          <a:prstGeom prst="rect">
            <a:avLst/>
          </a:prstGeom>
          <a:noFill/>
          <a:ln/>
        </p:spPr>
        <p:txBody>
          <a:bodyPr wrap="square" rtlCol="0" anchor="ctr"/>
          <a:lstStyle/>
          <a:p>
            <a:pPr algn="r" indent="0" marL="0">
              <a:buNone/>
            </a:pPr>
            <a:r>
              <a:rPr lang="en-US" sz="1000" dirty="0">
                <a:solidFill>
                  <a:srgbClr val="8A93B2"/>
                </a:solidFill>
                <a:latin typeface="Calibri" pitchFamily="34" charset="0"/>
                <a:ea typeface="Calibri" pitchFamily="34" charset="-122"/>
                <a:cs typeface="Calibri" pitchFamily="34" charset="-120"/>
              </a:rPr>
              <a:t>16</a:t>
            </a:r>
            <a:endParaRPr lang="en-US" sz="1000" dirty="0"/>
          </a:p>
        </p:txBody>
      </p:sp>
      <p:sp>
        <p:nvSpPr>
          <p:cNvPr id="6" name="Text 4"/>
          <p:cNvSpPr/>
          <p:nvPr/>
        </p:nvSpPr>
        <p:spPr>
          <a:xfrm>
            <a:off x="640080" y="1234440"/>
            <a:ext cx="10881360" cy="548640"/>
          </a:xfrm>
          <a:prstGeom prst="rect">
            <a:avLst/>
          </a:prstGeom>
          <a:noFill/>
          <a:ln/>
        </p:spPr>
        <p:txBody>
          <a:bodyPr wrap="square" rtlCol="0" anchor="ctr"/>
          <a:lstStyle/>
          <a:p>
            <a:pPr indent="0" marL="0">
              <a:buNone/>
            </a:pPr>
            <a:r>
              <a:rPr lang="en-US" sz="1500" i="1" dirty="0">
                <a:solidFill>
                  <a:srgbClr val="3A4A7A"/>
                </a:solidFill>
                <a:latin typeface="Calibri" pitchFamily="34" charset="0"/>
                <a:ea typeface="Calibri" pitchFamily="34" charset="-122"/>
                <a:cs typeface="Calibri" pitchFamily="34" charset="-120"/>
              </a:rPr>
              <a:t>If movement time is a behavioural readout of confidence, a neural signal should carry it. The plan:</a:t>
            </a:r>
            <a:endParaRPr lang="en-US" sz="1500" dirty="0"/>
          </a:p>
        </p:txBody>
      </p:sp>
      <p:sp>
        <p:nvSpPr>
          <p:cNvPr id="7" name="Shape 5"/>
          <p:cNvSpPr/>
          <p:nvPr/>
        </p:nvSpPr>
        <p:spPr>
          <a:xfrm>
            <a:off x="822960" y="1965960"/>
            <a:ext cx="10515600" cy="1051560"/>
          </a:xfrm>
          <a:prstGeom prst="roundRect">
            <a:avLst>
              <a:gd name="adj" fmla="val 5217"/>
            </a:avLst>
          </a:prstGeom>
          <a:solidFill>
            <a:srgbClr val="EEF3FC"/>
          </a:solidFill>
          <a:ln/>
        </p:spPr>
      </p:sp>
      <p:sp>
        <p:nvSpPr>
          <p:cNvPr id="8" name="Shape 6"/>
          <p:cNvSpPr/>
          <p:nvPr/>
        </p:nvSpPr>
        <p:spPr>
          <a:xfrm>
            <a:off x="1051560" y="2221992"/>
            <a:ext cx="548640" cy="548640"/>
          </a:xfrm>
          <a:prstGeom prst="ellipse">
            <a:avLst/>
          </a:prstGeom>
          <a:solidFill>
            <a:srgbClr val="1E2761"/>
          </a:solidFill>
          <a:ln/>
        </p:spPr>
      </p:sp>
      <p:sp>
        <p:nvSpPr>
          <p:cNvPr id="9" name="Text 7"/>
          <p:cNvSpPr/>
          <p:nvPr/>
        </p:nvSpPr>
        <p:spPr>
          <a:xfrm>
            <a:off x="1051560" y="2221992"/>
            <a:ext cx="548640" cy="548640"/>
          </a:xfrm>
          <a:prstGeom prst="rect">
            <a:avLst/>
          </a:prstGeom>
          <a:noFill/>
          <a:ln/>
        </p:spPr>
        <p:txBody>
          <a:bodyPr wrap="square"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10" name="Text 8"/>
          <p:cNvSpPr/>
          <p:nvPr/>
        </p:nvSpPr>
        <p:spPr>
          <a:xfrm>
            <a:off x="1874520" y="1965960"/>
            <a:ext cx="9235440" cy="1051560"/>
          </a:xfrm>
          <a:prstGeom prst="rect">
            <a:avLst/>
          </a:prstGeom>
          <a:noFill/>
          <a:ln/>
        </p:spPr>
        <p:txBody>
          <a:bodyPr wrap="square"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Image   </a:t>
            </a:r>
            <a:pPr indent="0" marL="0">
              <a:buNone/>
            </a:pPr>
            <a:r>
              <a:rPr lang="en-US" sz="1500" dirty="0">
                <a:solidFill>
                  <a:srgbClr val="24304F"/>
                </a:solidFill>
                <a:latin typeface="Calibri" pitchFamily="34" charset="0"/>
                <a:ea typeface="Calibri" pitchFamily="34" charset="-122"/>
                <a:cs typeface="Calibri" pitchFamily="34" charset="-120"/>
              </a:rPr>
              <a:t>2-photon calcium activity in medial and lateral frontal cortex during the task</a:t>
            </a:r>
            <a:endParaRPr lang="en-US" sz="1800" dirty="0"/>
          </a:p>
        </p:txBody>
      </p:sp>
      <p:sp>
        <p:nvSpPr>
          <p:cNvPr id="11" name="Shape 9"/>
          <p:cNvSpPr/>
          <p:nvPr/>
        </p:nvSpPr>
        <p:spPr>
          <a:xfrm>
            <a:off x="822960" y="3200400"/>
            <a:ext cx="10515600" cy="1051560"/>
          </a:xfrm>
          <a:prstGeom prst="roundRect">
            <a:avLst>
              <a:gd name="adj" fmla="val 5217"/>
            </a:avLst>
          </a:prstGeom>
          <a:solidFill>
            <a:srgbClr val="EEF3FC"/>
          </a:solidFill>
          <a:ln/>
        </p:spPr>
      </p:sp>
      <p:sp>
        <p:nvSpPr>
          <p:cNvPr id="12" name="Shape 10"/>
          <p:cNvSpPr/>
          <p:nvPr/>
        </p:nvSpPr>
        <p:spPr>
          <a:xfrm>
            <a:off x="1051560" y="3456432"/>
            <a:ext cx="548640" cy="548640"/>
          </a:xfrm>
          <a:prstGeom prst="ellipse">
            <a:avLst/>
          </a:prstGeom>
          <a:solidFill>
            <a:srgbClr val="1E2761"/>
          </a:solidFill>
          <a:ln/>
        </p:spPr>
      </p:sp>
      <p:sp>
        <p:nvSpPr>
          <p:cNvPr id="13" name="Text 11"/>
          <p:cNvSpPr/>
          <p:nvPr/>
        </p:nvSpPr>
        <p:spPr>
          <a:xfrm>
            <a:off x="1051560" y="3456432"/>
            <a:ext cx="548640" cy="548640"/>
          </a:xfrm>
          <a:prstGeom prst="rect">
            <a:avLst/>
          </a:prstGeom>
          <a:noFill/>
          <a:ln/>
        </p:spPr>
        <p:txBody>
          <a:bodyPr wrap="square"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4" name="Text 12"/>
          <p:cNvSpPr/>
          <p:nvPr/>
        </p:nvSpPr>
        <p:spPr>
          <a:xfrm>
            <a:off x="1874520" y="3200400"/>
            <a:ext cx="9235440" cy="1051560"/>
          </a:xfrm>
          <a:prstGeom prst="rect">
            <a:avLst/>
          </a:prstGeom>
          <a:noFill/>
          <a:ln/>
        </p:spPr>
        <p:txBody>
          <a:bodyPr wrap="square"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Align   </a:t>
            </a:r>
            <a:pPr indent="0" marL="0">
              <a:buNone/>
            </a:pPr>
            <a:r>
              <a:rPr lang="en-US" sz="1500" dirty="0">
                <a:solidFill>
                  <a:srgbClr val="24304F"/>
                </a:solidFill>
                <a:latin typeface="Calibri" pitchFamily="34" charset="0"/>
                <a:ea typeface="Calibri" pitchFamily="34" charset="-122"/>
                <a:cs typeface="Calibri" pitchFamily="34" charset="-120"/>
              </a:rPr>
              <a:t>lock the neural traces to movement onset — the moment the animal commits and moves</a:t>
            </a:r>
            <a:endParaRPr lang="en-US" sz="1800" dirty="0"/>
          </a:p>
        </p:txBody>
      </p:sp>
      <p:sp>
        <p:nvSpPr>
          <p:cNvPr id="15" name="Shape 13"/>
          <p:cNvSpPr/>
          <p:nvPr/>
        </p:nvSpPr>
        <p:spPr>
          <a:xfrm>
            <a:off x="822960" y="4434840"/>
            <a:ext cx="10515600" cy="1051560"/>
          </a:xfrm>
          <a:prstGeom prst="roundRect">
            <a:avLst>
              <a:gd name="adj" fmla="val 5217"/>
            </a:avLst>
          </a:prstGeom>
          <a:solidFill>
            <a:srgbClr val="EEF3FC"/>
          </a:solidFill>
          <a:ln/>
        </p:spPr>
      </p:sp>
      <p:sp>
        <p:nvSpPr>
          <p:cNvPr id="16" name="Shape 14"/>
          <p:cNvSpPr/>
          <p:nvPr/>
        </p:nvSpPr>
        <p:spPr>
          <a:xfrm>
            <a:off x="1051560" y="4690872"/>
            <a:ext cx="548640" cy="548640"/>
          </a:xfrm>
          <a:prstGeom prst="ellipse">
            <a:avLst/>
          </a:prstGeom>
          <a:solidFill>
            <a:srgbClr val="1E2761"/>
          </a:solidFill>
          <a:ln/>
        </p:spPr>
      </p:sp>
      <p:sp>
        <p:nvSpPr>
          <p:cNvPr id="17" name="Text 15"/>
          <p:cNvSpPr/>
          <p:nvPr/>
        </p:nvSpPr>
        <p:spPr>
          <a:xfrm>
            <a:off x="1051560" y="4690872"/>
            <a:ext cx="548640" cy="548640"/>
          </a:xfrm>
          <a:prstGeom prst="rect">
            <a:avLst/>
          </a:prstGeom>
          <a:noFill/>
          <a:ln/>
        </p:spPr>
        <p:txBody>
          <a:bodyPr wrap="square"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18" name="Text 16"/>
          <p:cNvSpPr/>
          <p:nvPr/>
        </p:nvSpPr>
        <p:spPr>
          <a:xfrm>
            <a:off x="1874520" y="4434840"/>
            <a:ext cx="9235440" cy="1051560"/>
          </a:xfrm>
          <a:prstGeom prst="rect">
            <a:avLst/>
          </a:prstGeom>
          <a:noFill/>
          <a:ln/>
        </p:spPr>
        <p:txBody>
          <a:bodyPr wrap="square"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Decode   </a:t>
            </a:r>
            <a:pPr indent="0" marL="0">
              <a:buNone/>
            </a:pPr>
            <a:r>
              <a:rPr lang="en-US" sz="1500" dirty="0">
                <a:solidFill>
                  <a:srgbClr val="24304F"/>
                </a:solidFill>
                <a:latin typeface="Calibri" pitchFamily="34" charset="0"/>
                <a:ea typeface="Calibri" pitchFamily="34" charset="-122"/>
                <a:cs typeface="Calibri" pitchFamily="34" charset="-120"/>
              </a:rPr>
              <a:t>find neurons whose activity predicts movement time, and correct-vs-error, trial by trial</a:t>
            </a:r>
            <a:endParaRPr lang="en-US" sz="1800" dirty="0"/>
          </a:p>
        </p:txBody>
      </p:sp>
      <p:sp>
        <p:nvSpPr>
          <p:cNvPr id="19" name="Shape 17"/>
          <p:cNvSpPr/>
          <p:nvPr/>
        </p:nvSpPr>
        <p:spPr>
          <a:xfrm>
            <a:off x="640080" y="6053328"/>
            <a:ext cx="10881360" cy="566928"/>
          </a:xfrm>
          <a:prstGeom prst="roundRect">
            <a:avLst>
              <a:gd name="adj" fmla="val 14516"/>
            </a:avLst>
          </a:prstGeom>
          <a:solidFill>
            <a:srgbClr val="3A4A7A"/>
          </a:solidFill>
          <a:ln/>
        </p:spPr>
      </p:sp>
      <p:sp>
        <p:nvSpPr>
          <p:cNvPr id="20" name="Text 18"/>
          <p:cNvSpPr/>
          <p:nvPr/>
        </p:nvSpPr>
        <p:spPr>
          <a:xfrm>
            <a:off x="868680" y="6053328"/>
            <a:ext cx="10424160" cy="566928"/>
          </a:xfrm>
          <a:prstGeom prst="rect">
            <a:avLst/>
          </a:prstGeom>
          <a:noFill/>
          <a:ln/>
        </p:spPr>
        <p:txBody>
          <a:bodyPr wrap="square" rtlCol="0" anchor="ctr"/>
          <a:lstStyle/>
          <a:p>
            <a:pPr algn="ctr" indent="0" marL="0">
              <a:buNone/>
            </a:pPr>
            <a:pPr algn="ctr" indent="0" marL="0">
              <a:buNone/>
            </a:pPr>
            <a:r>
              <a:rPr lang="en-US" sz="1400" b="1" dirty="0">
                <a:solidFill>
                  <a:srgbClr val="FFFFFF"/>
                </a:solidFill>
                <a:latin typeface="Calibri" pitchFamily="34" charset="0"/>
                <a:ea typeface="Calibri" pitchFamily="34" charset="-122"/>
                <a:cs typeface="Calibri" pitchFamily="34" charset="-120"/>
              </a:rPr>
              <a:t>The bridge: from a behavioural proxy for confidence to its neural correlate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37744"/>
            <a:ext cx="9418320" cy="822960"/>
          </a:xfrm>
          <a:prstGeom prst="rect">
            <a:avLst/>
          </a:prstGeom>
          <a:noFill/>
          <a:ln/>
        </p:spPr>
        <p:txBody>
          <a:bodyPr wrap="square" rtlCol="0" anchor="ctr"/>
          <a:lstStyle/>
          <a:p>
            <a:pPr algn="l" indent="0" marL="0">
              <a:buNone/>
            </a:pPr>
            <a:r>
              <a:rPr lang="en-US" sz="2500" b="1" dirty="0">
                <a:solidFill>
                  <a:srgbClr val="1E2761"/>
                </a:solidFill>
                <a:latin typeface="Cambria" pitchFamily="34" charset="0"/>
                <a:ea typeface="Cambria" pitchFamily="34" charset="-122"/>
                <a:cs typeface="Cambria" pitchFamily="34" charset="-120"/>
              </a:rPr>
              <a:t>A ready-made model to build on</a:t>
            </a:r>
            <a:endParaRPr lang="en-US" sz="2500" dirty="0"/>
          </a:p>
        </p:txBody>
      </p:sp>
      <p:sp>
        <p:nvSpPr>
          <p:cNvPr id="3" name="Shape 1"/>
          <p:cNvSpPr/>
          <p:nvPr/>
        </p:nvSpPr>
        <p:spPr>
          <a:xfrm>
            <a:off x="10149840" y="365760"/>
            <a:ext cx="1536192" cy="475488"/>
          </a:xfrm>
          <a:prstGeom prst="roundRect">
            <a:avLst>
              <a:gd name="adj" fmla="val 19231"/>
            </a:avLst>
          </a:prstGeom>
          <a:solidFill>
            <a:srgbClr val="EEF3FC"/>
          </a:solidFill>
          <a:ln/>
        </p:spPr>
      </p:sp>
      <p:sp>
        <p:nvSpPr>
          <p:cNvPr id="4" name="Text 2"/>
          <p:cNvSpPr/>
          <p:nvPr/>
        </p:nvSpPr>
        <p:spPr>
          <a:xfrm>
            <a:off x="10149840" y="365760"/>
            <a:ext cx="1536192" cy="475488"/>
          </a:xfrm>
          <a:prstGeom prst="rect">
            <a:avLst/>
          </a:prstGeom>
          <a:noFill/>
          <a:ln/>
        </p:spPr>
        <p:txBody>
          <a:bodyPr wrap="square" rtlCol="0" anchor="ctr"/>
          <a:lstStyle/>
          <a:p>
            <a:pPr algn="ctr" indent="0" marL="0">
              <a:buNone/>
            </a:pPr>
            <a:r>
              <a:rPr lang="en-US" sz="1100" b="1" dirty="0">
                <a:solidFill>
                  <a:srgbClr val="3A4A7A"/>
                </a:solidFill>
                <a:latin typeface="Calibri" pitchFamily="34" charset="0"/>
                <a:ea typeface="Calibri" pitchFamily="34" charset="-122"/>
                <a:cs typeface="Calibri" pitchFamily="34" charset="-120"/>
              </a:rPr>
              <a:t>NEXT STEPS</a:t>
            </a:r>
            <a:endParaRPr lang="en-US" sz="1100" dirty="0"/>
          </a:p>
        </p:txBody>
      </p:sp>
      <p:sp>
        <p:nvSpPr>
          <p:cNvPr id="5" name="Text 3"/>
          <p:cNvSpPr/>
          <p:nvPr/>
        </p:nvSpPr>
        <p:spPr>
          <a:xfrm>
            <a:off x="11612880" y="6455664"/>
            <a:ext cx="457200" cy="274320"/>
          </a:xfrm>
          <a:prstGeom prst="rect">
            <a:avLst/>
          </a:prstGeom>
          <a:noFill/>
          <a:ln/>
        </p:spPr>
        <p:txBody>
          <a:bodyPr wrap="square" rtlCol="0" anchor="ctr"/>
          <a:lstStyle/>
          <a:p>
            <a:pPr algn="r" indent="0" marL="0">
              <a:buNone/>
            </a:pPr>
            <a:r>
              <a:rPr lang="en-US" sz="1000" dirty="0">
                <a:solidFill>
                  <a:srgbClr val="8A93B2"/>
                </a:solidFill>
                <a:latin typeface="Calibri" pitchFamily="34" charset="0"/>
                <a:ea typeface="Calibri" pitchFamily="34" charset="-122"/>
                <a:cs typeface="Calibri" pitchFamily="34" charset="-120"/>
              </a:rPr>
              <a:t>17</a:t>
            </a:r>
            <a:endParaRPr lang="en-US" sz="1000" dirty="0"/>
          </a:p>
        </p:txBody>
      </p:sp>
      <p:pic>
        <p:nvPicPr>
          <p:cNvPr id="6" name="Image 0" descr="/sessions/bold-sleepy-planck/mnt/Fast &amp; Slow/fig2_full.png">    </p:cNvPr>
          <p:cNvPicPr>
            <a:picLocks noChangeAspect="1"/>
          </p:cNvPicPr>
          <p:nvPr/>
        </p:nvPicPr>
        <p:blipFill>
          <a:blip r:embed="rId1"/>
          <a:stretch>
            <a:fillRect/>
          </a:stretch>
        </p:blipFill>
        <p:spPr>
          <a:xfrm>
            <a:off x="1641759" y="1234440"/>
            <a:ext cx="8878001" cy="3611880"/>
          </a:xfrm>
          <a:prstGeom prst="rect">
            <a:avLst/>
          </a:prstGeom>
        </p:spPr>
      </p:pic>
      <p:sp>
        <p:nvSpPr>
          <p:cNvPr id="7" name="Text 4"/>
          <p:cNvSpPr/>
          <p:nvPr/>
        </p:nvSpPr>
        <p:spPr>
          <a:xfrm>
            <a:off x="640080" y="5742432"/>
            <a:ext cx="10881360" cy="274320"/>
          </a:xfrm>
          <a:prstGeom prst="rect">
            <a:avLst/>
          </a:prstGeom>
          <a:noFill/>
          <a:ln/>
        </p:spPr>
        <p:txBody>
          <a:bodyPr wrap="square" rtlCol="0" anchor="ctr"/>
          <a:lstStyle/>
          <a:p>
            <a:pPr algn="r" indent="0" marL="0">
              <a:buNone/>
            </a:pPr>
            <a:r>
              <a:rPr lang="en-US" sz="950" i="1" dirty="0">
                <a:solidFill>
                  <a:srgbClr val="8A93B2"/>
                </a:solidFill>
                <a:latin typeface="Calibri" pitchFamily="34" charset="0"/>
                <a:ea typeface="Calibri" pitchFamily="34" charset="-122"/>
                <a:cs typeface="Calibri" pitchFamily="34" charset="-120"/>
              </a:rPr>
              <a:t>Figure adapted from Nashaat et al., Neuron — Fig 2 (DDM + RL / Q-learning)</a:t>
            </a:r>
            <a:endParaRPr lang="en-US" sz="950" dirty="0"/>
          </a:p>
        </p:txBody>
      </p:sp>
      <p:sp>
        <p:nvSpPr>
          <p:cNvPr id="8" name="Text 5"/>
          <p:cNvSpPr/>
          <p:nvPr/>
        </p:nvSpPr>
        <p:spPr>
          <a:xfrm>
            <a:off x="1005840" y="5074920"/>
            <a:ext cx="10149840" cy="914400"/>
          </a:xfrm>
          <a:prstGeom prst="rect">
            <a:avLst/>
          </a:prstGeom>
          <a:noFill/>
          <a:ln/>
        </p:spPr>
        <p:txBody>
          <a:bodyPr wrap="square" rtlCol="0" anchor="ctr"/>
          <a:lstStyle/>
          <a:p>
            <a:pPr algn="ctr" indent="0" marL="0">
              <a:lnSpc>
                <a:spcPct val="110000"/>
              </a:lnSpc>
              <a:buNone/>
            </a:pPr>
            <a:r>
              <a:rPr lang="en-US" sz="1500" i="1" dirty="0">
                <a:solidFill>
                  <a:srgbClr val="24304F"/>
                </a:solidFill>
                <a:latin typeface="Calibri" pitchFamily="34" charset="0"/>
                <a:ea typeface="Calibri" pitchFamily="34" charset="-122"/>
                <a:cs typeface="Calibri" pitchFamily="34" charset="-120"/>
              </a:rPr>
              <a:t>The Fast &amp; Slow model — drift-diffusion plus reinforcement / Q-learning — already predicts choices and sampling times. Next: add movement time as an output, and line the model's confidence up against the neural signal.</a:t>
            </a:r>
            <a:endParaRPr lang="en-US" sz="1500" dirty="0"/>
          </a:p>
        </p:txBody>
      </p:sp>
      <p:sp>
        <p:nvSpPr>
          <p:cNvPr id="9" name="Shape 6"/>
          <p:cNvSpPr/>
          <p:nvPr/>
        </p:nvSpPr>
        <p:spPr>
          <a:xfrm>
            <a:off x="640080" y="6053328"/>
            <a:ext cx="10881360" cy="566928"/>
          </a:xfrm>
          <a:prstGeom prst="roundRect">
            <a:avLst>
              <a:gd name="adj" fmla="val 14516"/>
            </a:avLst>
          </a:prstGeom>
          <a:solidFill>
            <a:srgbClr val="3A4A7A"/>
          </a:solidFill>
          <a:ln/>
        </p:spPr>
      </p:sp>
      <p:sp>
        <p:nvSpPr>
          <p:cNvPr id="10" name="Text 7"/>
          <p:cNvSpPr/>
          <p:nvPr/>
        </p:nvSpPr>
        <p:spPr>
          <a:xfrm>
            <a:off x="868680" y="6053328"/>
            <a:ext cx="10424160" cy="566928"/>
          </a:xfrm>
          <a:prstGeom prst="rect">
            <a:avLst/>
          </a:prstGeom>
          <a:noFill/>
          <a:ln/>
        </p:spPr>
        <p:txBody>
          <a:bodyPr wrap="square" rtlCol="0" anchor="ctr"/>
          <a:lstStyle/>
          <a:p>
            <a:pPr algn="ctr" indent="0" marL="0">
              <a:buNone/>
            </a:pPr>
            <a:pPr algn="ctr" indent="0" marL="0">
              <a:buNone/>
            </a:pPr>
            <a:r>
              <a:rPr lang="en-US" sz="1400" b="1" dirty="0">
                <a:solidFill>
                  <a:srgbClr val="FFFFFF"/>
                </a:solidFill>
                <a:latin typeface="Calibri" pitchFamily="34" charset="0"/>
                <a:ea typeface="Calibri" pitchFamily="34" charset="-122"/>
                <a:cs typeface="Calibri" pitchFamily="34" charset="-120"/>
              </a:rPr>
              <a:t>Thank you  ·  questions welcome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2026-07-14T00:54:50Z</dcterms:created>
  <dcterms:modified xsi:type="dcterms:W3CDTF">2026-07-14T00:54:50Z</dcterms:modified>
</cp:coreProperties>
</file>